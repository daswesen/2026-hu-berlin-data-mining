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6" Type="http://schemas.openxmlformats.org/officeDocument/2006/relationships/viewProps" Target="viewProps.xml" /><Relationship Id="rId7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8" Type="http://schemas.openxmlformats.org/officeDocument/2006/relationships/tableStyles" Target="tableStyles.xml" /><Relationship Id="rId7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tom@alby.d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tom@alby.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Konsultation Data Mining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Fernstudium Bibliotheks- und Informationswissenschaft, IBI</a:t>
            </a:r>
            <a:br/>
            <a:br/>
            <a:r>
              <a:rPr/>
              <a:t>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Konzepte klären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Ziele dieser Konsultation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Offene Fragen zu den Materialien klären</a:t>
            </a:r>
          </a:p>
          <a:p>
            <a:pPr lvl="0"/>
            <a:r>
              <a:rPr/>
              <a:t>Die Begriffe sauber sortieren: KI, ML, LLMs, Data Science, Data Mining</a:t>
            </a:r>
          </a:p>
          <a:p>
            <a:pPr lvl="0"/>
            <a:r>
              <a:rPr/>
              <a:t>Data Mining mit dem BookCrossing-Datensatz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Ablauf heute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Inhalt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Begriffe &amp; Konzepte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Hands-on Data Mining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Fragen:</a:t>
            </a:r>
            <a:r>
              <a:rPr/>
              <a:t> Bitte unterbrechen Sie mich für Fragen</a:t>
            </a:r>
          </a:p>
          <a:p>
            <a:pPr lvl="0"/>
            <a:r>
              <a:rPr b="1"/>
              <a:t>Kontakt:</a:t>
            </a:r>
            <a:r>
              <a:rPr/>
              <a:t> </a:t>
            </a:r>
            <a:r>
              <a:rPr>
                <a:hlinkClick r:id="rId2"/>
              </a:rPr>
              <a:t>tom@alby.de</a:t>
            </a:r>
          </a:p>
          <a:p>
            <a:pPr lvl="0"/>
            <a:r>
              <a:rPr/>
              <a:t>Material auf GitHub (Link im Moodle)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Womit starten wir?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Welche Materialien haben Sie durchgearbeitet?</a:t>
            </a:r>
          </a:p>
          <a:p>
            <a:pPr lvl="0"/>
            <a:r>
              <a:rPr/>
              <a:t>Wo hakte 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Begriffe sortiert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KI:</a:t>
            </a:r>
            <a:r>
              <a:rPr/>
              <a:t> Oberbegriff — Maschinen verhalten sich intelligent.</a:t>
            </a:r>
          </a:p>
          <a:p>
            <a:pPr lvl="0"/>
            <a:r>
              <a:rPr b="1"/>
              <a:t>Machine Learning:</a:t>
            </a:r>
            <a:r>
              <a:rPr/>
              <a:t> Teilmenge der KI — Systeme lernen selbstständig aus Daten.</a:t>
            </a:r>
          </a:p>
          <a:p>
            <a:pPr lvl="0"/>
            <a:r>
              <a:rPr b="1"/>
              <a:t>LLMs:</a:t>
            </a:r>
            <a:r>
              <a:rPr/>
              <a:t> Spezialform von ML — Modelle, die menschliche Sprache verstehen und generieren.</a:t>
            </a:r>
          </a:p>
          <a:p>
            <a:pPr lvl="0"/>
            <a:r>
              <a:rPr b="1"/>
              <a:t>Data Mining:</a:t>
            </a:r>
            <a:r>
              <a:rPr/>
              <a:t> Mustererkennung in strukturierten Daten.</a:t>
            </a:r>
          </a:p>
          <a:p>
            <a:pPr lvl="0"/>
            <a:r>
              <a:rPr b="1"/>
              <a:t>Text Mining:</a:t>
            </a:r>
            <a:r>
              <a:rPr/>
              <a:t> Mustererkennung in unstrukturierten Texten (heute oft durch LLMs gelöst).</a:t>
            </a:r>
          </a:p>
          <a:p>
            <a:pPr lvl="0"/>
            <a:r>
              <a:rPr b="1"/>
              <a:t>Data Science:</a:t>
            </a:r>
            <a:r>
              <a:rPr/>
              <a:t> Die Disziplin drumherum — von der Analyse bis zum Business-Einsatz.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Standortbestimmung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 begegnen / nutzen Sie KI / Data Mining heute schon?</a:t>
            </a:r>
          </a:p>
          <a:p>
            <a:pPr lvl="0"/>
            <a:r>
              <a:rPr/>
              <a:t>Wo würden Sie gerne KI / Data Mining nutzen?</a:t>
            </a:r>
          </a:p>
          <a:p>
            <a:pPr lvl="0"/>
            <a:r>
              <a:rPr/>
              <a:t>Welche KI-Versprechen hören Bibliotheken aktuell von Anbietern?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Mandl: Data Mining = strukturierte Daten, Text Mining = unstrukturierte Texte</a:t>
            </a:r>
          </a:p>
          <a:p>
            <a:pPr lvl="0"/>
            <a:r>
              <a:rPr/>
              <a:t>Wo liegen Bibliothekskataloge auf diesem Spektrum?</a:t>
            </a:r>
          </a:p>
          <a:p>
            <a:pPr lvl="0"/>
            <a:r>
              <a:rPr/>
              <a:t>Metadaten vs. Abstracts vs. Volltexte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BookCrossing-Datensatz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2004 von Cai-Nicolas Ziegler aus der BookCrossing-Community gecrawlt</a:t>
            </a:r>
          </a:p>
          <a:p>
            <a:pPr lvl="0"/>
            <a:r>
              <a:rPr/>
              <a:t>Demos in diesem Deck nutzen ein Teilsample (~494.000 Bewertungen):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BookCrossing-Datensatz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3886200"/>
                <a:gridCol w="2171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Inhalt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Größe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BX-Users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User-ID, Location, 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~278.000 Nutzer:innen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BX-Books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ISBN, Titel, Autor, Jahr, Verlag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~271.000 Bücher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BX-Book-Ratings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User-ID, ISBN, Rating 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~1,15 Mio. Bewertungen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stimmt mit diesen Daten nicht?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Ratings:</a:t>
            </a:r>
            <a:r>
              <a:rPr/>
              <a:t> 0 ist kein Bewertung, sondern </a:t>
            </a:r>
            <a:r>
              <a:rPr b="1"/>
              <a:t>implizit</a:t>
            </a:r>
            <a:r>
              <a:rPr/>
              <a:t>.</a:t>
            </a:r>
          </a:p>
          <a:p>
            <a:pPr lvl="0"/>
            <a:r>
              <a:rPr b="1"/>
              <a:t>Users:</a:t>
            </a:r>
            <a:r>
              <a:rPr/>
              <a:t> Age von 0 bis 244, viele NULL; Location als Freitext</a:t>
            </a:r>
          </a:p>
          <a:p>
            <a:pPr lvl="0"/>
            <a:r>
              <a:rPr b="1"/>
              <a:t>Books:</a:t>
            </a:r>
            <a:r>
              <a:rPr/>
              <a:t> mehrere ISBNs pro Werk (Auflagen), Erscheinungsjahre 0 und 2050</a:t>
            </a:r>
          </a:p>
          <a:p>
            <a:pPr lvl="0"/>
            <a:r>
              <a:rPr b="1"/>
              <a:t>Technisch:</a:t>
            </a:r>
            <a:r>
              <a:rPr/>
              <a:t> Semikolon-CSV, Latin-1, kaputte Escapes</a:t>
            </a:r>
          </a:p>
          <a:p>
            <a:pPr lvl="0"/>
            <a:r>
              <a:rPr b="1"/>
              <a:t>Sparsity:</a:t>
            </a:r>
            <a:r>
              <a:rPr/>
              <a:t> 1,15 Mio. Ratings bei 278k × 271k möglichen Paaren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Visualisierung als erster Schritt in der Datenanalyse</a:t>
            </a:r>
          </a:p>
        </p:txBody>
      </p:sp>
      <p:pic>
        <p:nvPicPr>
          <p:cNvPr descr="images/alter_histogra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64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Exkurs: Was heißt Sparsity?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Tabelle ist fast leer.</a:t>
            </a:r>
          </a:p>
          <a:p>
            <a:pPr lvl="0"/>
            <a:r>
              <a:rPr/>
              <a:t>Beispiel: eine Tabelle mit einer Zeile pro Nutzer:in und einer Spalte pro Buch, in den Zellen die Bewertungen</a:t>
            </a:r>
          </a:p>
          <a:p>
            <a:pPr lvl="0"/>
            <a:r>
              <a:rPr/>
              <a:t>278.000 × 271.000 ≈ </a:t>
            </a:r>
            <a:r>
              <a:rPr b="1"/>
              <a:t>75 Milliarden Zellen</a:t>
            </a:r>
            <a:r>
              <a:rPr/>
              <a:t> — gefüllt sind ~1 Mio., also </a:t>
            </a:r>
            <a:r>
              <a:rPr b="1"/>
              <a:t>0,002 %</a:t>
            </a:r>
          </a:p>
          <a:p>
            <a:pPr lvl="0"/>
            <a:r>
              <a:rPr/>
              <a:t>Selbst die eifrigste Viel-Leserin füllt ihre Zeile zu weniger als 0,1 %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Sparsity: die Folgen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Selbst populäre Buchpaare tauchen nur in einem Promille der Körbe auf — Schwellenwerte müssen winzig sein</a:t>
            </a:r>
          </a:p>
          <a:p>
            <a:pPr lvl="0"/>
            <a:r>
              <a:rPr/>
              <a:t>Zwei beliebige Nutzer:innen haben oft </a:t>
            </a:r>
            <a:r>
              <a:rPr b="1"/>
              <a:t>kein einziges</a:t>
            </a:r>
            <a:r>
              <a:rPr/>
              <a:t> gemeinsames Buch — Ähnlichkeit lässt sich gar nicht berechnen</a:t>
            </a:r>
          </a:p>
          <a:p>
            <a:pPr lvl="0"/>
            <a:r>
              <a:rPr/>
              <a:t>Muster entstehen erst, weil sich Millionen fast leerer Zeilen überlagern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FRBR und Sparsity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Sparsity entsteht, weil Nutzer:innen zu wenige Bücher bewertet haben.</a:t>
            </a:r>
          </a:p>
          <a:p>
            <a:pPr lvl="0"/>
            <a:r>
              <a:rPr/>
              <a:t>FRBR: dasselbe Werk taucht unter vielen ISBNs auf: Sparsity wird verschärft, weil wenige Bewertungen für ein Werk auf mehrere ISBNs verteilt werden</a:t>
            </a:r>
          </a:p>
          <a:p>
            <a:pPr lvl="0"/>
            <a:r>
              <a:rPr/>
              <a:t>BookCrossing kennt </a:t>
            </a:r>
            <a:r>
              <a:rPr b="1"/>
              <a:t>nur ISBNs = Manifestationen</a:t>
            </a:r>
            <a:r>
              <a:rPr/>
              <a:t> — das Werk müssen wir per Data Mining rekonstruieren</a:t>
            </a:r>
          </a:p>
          <a:p>
            <a:pPr lvl="0"/>
            <a:r>
              <a:rPr/>
              <a:t>Genau das macht Record Linkage (später)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Mining-Ansätze für den BookCrossing-Datensatz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R: Programmiersprache und -umgebung von Statistikern für Statistiker, Open Source</a:t>
            </a:r>
          </a:p>
          <a:p>
            <a:pPr lvl="0"/>
            <a:r>
              <a:rPr/>
              <a:t>RStudio: Integrierte Entwicklungsumgebung, kostenlos für viele Zwecke</a:t>
            </a:r>
          </a:p>
          <a:p>
            <a:pPr lvl="0"/>
            <a:r>
              <a:rPr/>
              <a:t>Notebook im GitHub, kann mit der Software genutzt werden</a:t>
            </a:r>
          </a:p>
          <a:p>
            <a:pPr lvl="0"/>
            <a:r>
              <a:rPr/>
              <a:t>Was ist ein Notebook?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Empfehlungen?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Sie haben drei Tabellen: Nutzer:innen, Bücher, Bewertungen</a:t>
            </a:r>
          </a:p>
          <a:p>
            <a:pPr lvl="0"/>
            <a:r>
              <a:rPr/>
              <a:t>Aufgabe: Schlagen Sie Leser:innen passende Bücher vor</a:t>
            </a:r>
          </a:p>
          <a:p>
            <a:pPr lvl="0"/>
            <a:r>
              <a:rPr b="1"/>
              <a:t>Wie würden Sie vorgehen? Welche Spalten brauchen Sie?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nicht einfach die Bestseller empfehlen?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Stellen Sie sich vor, im Supermarkt hängt ein Plakat: „Kaufen Sie doch mal Milch, Toilettenpapier und Butter!”</a:t>
            </a:r>
          </a:p>
          <a:p>
            <a:pPr lvl="0"/>
            <a:r>
              <a:rPr/>
              <a:t>Stimmt statistisch — das kauft fast jeder. Aber hilft es </a:t>
            </a:r>
            <a:r>
              <a:rPr i="1"/>
              <a:t>Ihnen</a:t>
            </a:r>
            <a:r>
              <a:rPr/>
              <a:t>?</a:t>
            </a:r>
          </a:p>
          <a:p>
            <a:pPr lvl="0"/>
            <a:r>
              <a:rPr/>
              <a:t>Genauso nützlich ist die Bestsellerliste als Empfehlung für die einzelne Leserin</a:t>
            </a:r>
          </a:p>
          <a:p>
            <a:pPr lvl="0"/>
            <a:r>
              <a:rPr b="1"/>
              <a:t>Häufig heißt nicht relevant</a:t>
            </a:r>
            <a:r>
              <a:rPr/>
              <a:t> — gesucht ist, was zu </a:t>
            </a:r>
            <a:r>
              <a:rPr i="1"/>
              <a:t>diesem</a:t>
            </a:r>
            <a:r>
              <a:rPr/>
              <a:t> Bücherregal passt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Idee: Zusammenhänge statt Häufigkeit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Angenommen, in 10 % aller Einkäufe liegt Bier, in 7 % liegen Kartoffelchips</a:t>
            </a:r>
          </a:p>
          <a:p>
            <a:pPr lvl="0"/>
            <a:r>
              <a:rPr/>
              <a:t>Jetzt schauen wir nur in die Bierkäufe:</a:t>
            </a:r>
          </a:p>
          <a:p>
            <a:pPr lvl="1"/>
            <a:r>
              <a:rPr/>
              <a:t>Liegen auch dort in 7 % Chips → kein Zusammenhang, Chips sind einfach Chips</a:t>
            </a:r>
          </a:p>
          <a:p>
            <a:pPr lvl="1"/>
            <a:r>
              <a:rPr/>
              <a:t>Liegen dort in </a:t>
            </a:r>
            <a:r>
              <a:rPr b="1"/>
              <a:t>25 %</a:t>
            </a:r>
            <a:r>
              <a:rPr/>
              <a:t> Chips → da ist etwas! Eine </a:t>
            </a:r>
            <a:r>
              <a:rPr b="1"/>
              <a:t>Assoziation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Vom Supermarkt zu BookCrossing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Buch A im Regal hat — welche Bücher stehen bei diesen Leser:innen überdurchschnittlich oft daneben?</a:t>
            </a:r>
          </a:p>
          <a:p>
            <a:pPr lvl="0"/>
            <a:r>
              <a:rPr/>
              <a:t>Vorsicht: Eine Regel ist keine Kausalität (auch wenn Wein → Korkenzieher das vermuten lässt)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Von Hand: 8 Leser:innen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Jede Zeile ist ein:e Leser:in mit ihrem „Bücherregal” — wie 8 Kassenbons an der Supermarktkasse: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Support: Lohnt sich die Regel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Wir zählen einfach: In wie vielen der 8 Körbe liegen </a:t>
            </a:r>
            <a:r>
              <a:rPr i="1"/>
              <a:t>Angels &amp; Demons</a:t>
            </a:r>
            <a:r>
              <a:rPr/>
              <a:t> </a:t>
            </a:r>
            <a:r>
              <a:rPr b="1"/>
              <a:t>und</a:t>
            </a:r>
            <a:r>
              <a:rPr/>
              <a:t> </a:t>
            </a:r>
            <a:r>
              <a:rPr i="1"/>
              <a:t>Da Vinci Code</a:t>
            </a:r>
            <a:r>
              <a:rPr/>
              <a:t> zusammen?</a:t>
            </a:r>
          </a:p>
          <a:p>
            <a:pPr lvl="0"/>
            <a:r>
              <a:rPr/>
              <a:t>In 4 von 8 → Support = </a:t>
            </a:r>
            <a:r>
              <a:rPr b="1"/>
              <a:t>0,5</a:t>
            </a:r>
          </a:p>
          <a:p>
            <a:pPr lvl="0"/>
            <a:r>
              <a:rPr/>
              <a:t>Was fast nie vorkommt, ist kein Muster, sondern Zufall — und geschäftlich uninteressant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Konfidenz: Wie verlässlich ist die Regel?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Jetzt schauen wir nur in die Körbe mit </a:t>
            </a:r>
            <a:r>
              <a:rPr i="1"/>
              <a:t>Angels &amp; Demons</a:t>
            </a:r>
            <a:r>
              <a:rPr/>
              <a:t> — das sind 4</a:t>
            </a:r>
          </a:p>
          <a:p>
            <a:pPr lvl="0"/>
            <a:r>
              <a:rPr/>
              <a:t>In allen 4 liegt auch der </a:t>
            </a:r>
            <a:r>
              <a:rPr i="1"/>
              <a:t>Da Vinci Code</a:t>
            </a:r>
            <a:r>
              <a:rPr/>
              <a:t> → Konfidenz = </a:t>
            </a:r>
            <a:r>
              <a:rPr b="1"/>
              <a:t>1,0</a:t>
            </a:r>
          </a:p>
          <a:p>
            <a:pPr lvl="0"/>
            <a:r>
              <a:rPr/>
              <a:t>Sprechweise: „Der Da Vinci Code taucht in 100 % der Fälle auf, in denen Angels &amp; Demons auftaucht”</a:t>
            </a:r>
          </a:p>
          <a:p>
            <a:pPr lvl="0"/>
            <a:r>
              <a:rPr/>
              <a:t>Achtung: Hat nichts mit den Konfidenzintervallen aus der Statistik zu tun!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Lift: Mehr als nur Popularität?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 </a:t>
            </a:r>
            <a:r>
              <a:rPr i="1"/>
              <a:t>Da Vinci Code</a:t>
            </a:r>
            <a:r>
              <a:rPr/>
              <a:t> liegt sowieso in 6 von 8 Körben — 75 %, ein Bestseller</a:t>
            </a:r>
          </a:p>
          <a:p>
            <a:pPr lvl="0"/>
            <a:r>
              <a:rPr/>
              <a:t>Bei den </a:t>
            </a:r>
            <a:r>
              <a:rPr i="1"/>
              <a:t>Angels-&amp;-Demons</a:t>
            </a:r>
            <a:r>
              <a:rPr/>
              <a:t>-Leser:innen sind es aber 100 %</a:t>
            </a:r>
          </a:p>
          <a:p>
            <a:pPr lvl="0"/>
            <a:r>
              <a:rPr/>
              <a:t>100 % geteilt durch 75 % = Lift </a:t>
            </a:r>
            <a:r>
              <a:rPr b="1"/>
              <a:t>1,33</a:t>
            </a:r>
            <a:r>
              <a:rPr/>
              <a:t>: ein Drittel häufiger, als wenn die beiden Bücher nichts miteinander zu tun hätten</a:t>
            </a:r>
          </a:p>
          <a:p>
            <a:pPr lvl="0"/>
            <a:r>
              <a:rPr b="1"/>
              <a:t>Der Lift ist unser Bestseller-Detektor:</a:t>
            </a:r>
            <a:r>
              <a:rPr/>
              <a:t> Bei „kaufen sowieso alle” bleibt er bei 1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Dasselbe mit arules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trans_mini &lt;- </a:t>
            </a:r>
            <a:r>
              <a:rPr>
                <a:solidFill>
                  <a:srgbClr val="4758AB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(mini, </a:t>
            </a:r>
            <a:r>
              <a:rPr>
                <a:solidFill>
                  <a:srgbClr val="20794D"/>
                </a:solidFill>
                <a:latin typeface="Courier"/>
              </a:rPr>
              <a:t>"transactions"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regeln_mini &lt;- </a:t>
            </a:r>
            <a:r>
              <a:rPr>
                <a:solidFill>
                  <a:srgbClr val="4758AB"/>
                </a:solidFill>
                <a:latin typeface="Courier"/>
              </a:rPr>
              <a:t>apriori</a:t>
            </a:r>
            <a:r>
              <a:rPr>
                <a:solidFill>
                  <a:srgbClr val="003B4F"/>
                </a:solidFill>
                <a:latin typeface="Courier"/>
              </a:rPr>
              <a:t>(trans_mini,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supp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minlen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Konfidenz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Lift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{Angels &amp; Demons}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{Da Vinci Code}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heißt das eigentlich „Apriori”?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Eigentlich müsste man jede Buchkombination mit jeder vergleichen — bei 271.000 Büchern hoffnungslos</a:t>
            </a:r>
          </a:p>
          <a:p>
            <a:pPr lvl="0"/>
            <a:r>
              <a:rPr/>
              <a:t>Der Trick (Agrawal et al., 1994): </a:t>
            </a:r>
            <a:r>
              <a:rPr b="1"/>
              <a:t>Was selten ist, fliegt früh raus</a:t>
            </a:r>
            <a:r>
              <a:rPr/>
              <a:t> — samt aller Körbe und Kombinationen, in denen es steckt</a:t>
            </a:r>
          </a:p>
          <a:p>
            <a:pPr lvl="0"/>
            <a:r>
              <a:rPr/>
              <a:t>Die Logik dahinter: Wenn schon {A, B} selten ist, kann {A, B, C} unmöglich häufig sein</a:t>
            </a:r>
          </a:p>
          <a:p>
            <a:pPr lvl="0"/>
            <a:r>
              <a:rPr/>
              <a:t>Das weiß der Algorithmus </a:t>
            </a:r>
            <a:r>
              <a:rPr i="1"/>
              <a:t>a priori</a:t>
            </a:r>
            <a:r>
              <a:rPr/>
              <a:t> — vor dem Nachzählen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Jetzt mit den echten 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Transaktion = alle Bücher, die ein:e Nutzer:in erfasst hat (auch implizite 0-Ratings: erfasst = gelesen)</a:t>
            </a:r>
          </a:p>
          <a:p>
            <a:pPr lvl="0"/>
            <a:r>
              <a:rPr/>
              <a:t>493.813 Bewertungen → 17.460 Körbe mit mindestens 2 Büchern</a:t>
            </a:r>
          </a:p>
          <a:p>
            <a:pPr lvl="0"/>
            <a:r>
              <a:rPr/>
              <a:t>Vorarbeit aus der Datenqualitäts-Übung: ISBN-Dubletten entfernt, ein Korb pro Person dedupliziert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Bücher dominieren?</a:t>
            </a:r>
          </a:p>
        </p:txBody>
      </p:sp>
      <p:pic>
        <p:nvPicPr>
          <p:cNvPr descr="Konsultation_IBI_Deck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Apriori laufen lassen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regeln &lt;- </a:t>
            </a:r>
            <a:r>
              <a:rPr>
                <a:solidFill>
                  <a:srgbClr val="4758AB"/>
                </a:solidFill>
                <a:latin typeface="Courier"/>
              </a:rPr>
              <a:t>apriori</a:t>
            </a:r>
            <a:r>
              <a:rPr>
                <a:solidFill>
                  <a:srgbClr val="003B4F"/>
                </a:solidFill>
                <a:latin typeface="Courier"/>
              </a:rPr>
              <a:t>(trans,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supp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minlen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/>
            <a:r>
              <a:rPr/>
              <a:t>Drei Zeilen Code, 6.251 gefundene Regeln — schauen wir uns die stärksten an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stärksten Regeln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"/>
                <a:gridCol w="3835400"/>
                <a:gridCol w="2463800"/>
                <a:gridCol w="685800"/>
                <a:gridCol w="342900"/>
                <a:gridCol w="622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Wenn gelesen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… dann auch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Konfidenz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Personen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{Guilty Pleasures (Anita Blake Vampire Hunter (Paper…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{Killing Dance (Anita Blake Vamp…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Coffey on the Mile (Green Mile Seri…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Night Journey (…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Coffey on the Mile (Green Mile Seri…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{The Green Mile: Night Journey (…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sehen wir?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Buchserien dominieren: Die Green-Mile-Bände sagen einander mit Konfidenz 1,0 voraus (Lift &gt; 500)</a:t>
            </a:r>
          </a:p>
          <a:p>
            <a:pPr lvl="0"/>
            <a:r>
              <a:rPr/>
              <a:t>Der Algorithmus „kennt” weder Serien noch Genres — er findet sie in den Co-Occurrences</a:t>
            </a:r>
          </a:p>
          <a:p>
            <a:pPr lvl="0"/>
            <a:r>
              <a:rPr/>
              <a:t>Aber: Die Top-Regel stützt sich auf 19 Personen — </a:t>
            </a:r>
            <a:r>
              <a:rPr b="1"/>
              <a:t>wie belastbar ist das?</a:t>
            </a:r>
          </a:p>
          <a:p>
            <a:pPr lvl="0"/>
            <a:r>
              <a:rPr/>
              <a:t>Und: Hoher Support ≠ gute Empfehlung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 Animus: populär, aber zusammenhanglos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itemFrequency</a:t>
            </a:r>
            <a:r>
              <a:rPr>
                <a:solidFill>
                  <a:srgbClr val="003B4F"/>
                </a:solidFill>
                <a:latin typeface="Courier"/>
              </a:rPr>
              <a:t>(trans)[</a:t>
            </a:r>
            <a:r>
              <a:rPr>
                <a:solidFill>
                  <a:srgbClr val="20794D"/>
                </a:solidFill>
                <a:latin typeface="Courier"/>
              </a:rPr>
              <a:t>"Wild Animus"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Wild Animus 
 0.04862543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(regeln, lhs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"Wild Animus"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size</a:t>
            </a:r>
            <a:r>
              <a:rPr>
                <a:solidFill>
                  <a:srgbClr val="003B4F"/>
                </a:solidFill>
                <a:latin typeface="Courier"/>
              </a:rPr>
              <a:t>(lhs)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0</a:t>
            </a:r>
          </a:p>
          <a:p>
            <a:pPr lvl="0"/>
            <a:r>
              <a:rPr/>
              <a:t>In fast 5 % aller Körbe — und trotzdem folgt aus „hat Wild Animus” </a:t>
            </a:r>
            <a:r>
              <a:rPr i="1"/>
              <a:t>allein</a:t>
            </a:r>
            <a:r>
              <a:rPr/>
              <a:t> keine einzige verlässliche Regel</a:t>
            </a:r>
          </a:p>
          <a:p>
            <a:pPr lvl="0"/>
            <a:r>
              <a:rPr/>
              <a:t>Zum Vergleich: Bei Green Mile reichte ein einziger Band — </a:t>
            </a:r>
            <a:r>
              <a:rPr b="1"/>
              <a:t>Popularität ist kein Muster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Empfehlung konkret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empf &lt;- </a:t>
            </a:r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(regeln, lhs </a:t>
            </a:r>
            <a:r>
              <a:rPr>
                <a:solidFill>
                  <a:srgbClr val="5E5E5E"/>
                </a:solidFill>
                <a:latin typeface="Courier"/>
              </a:rPr>
              <a:t>%pin%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"Harry Potter"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"/>
                <a:gridCol w="2667000"/>
                <a:gridCol w="1714500"/>
                <a:gridCol w="482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Wer das gelesen hat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… bekommt empfohlen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Konfidenz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Goblet of Fire (Book 4),The Na…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Prisoner o…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3903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Goblet of Fire (Book 4),Harry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Chamber of…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3907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Goblet of Fire (Book 4),Harry 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{Harry Potter and the Chamber of…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Stellschrauben &amp; Stolpersteine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supp = 0.001</a:t>
            </a:r>
            <a:r>
              <a:rPr/>
              <a:t> — bei 271.000 Büchern muss der Support winzig sein (Sparsity), sonst findet Apriori nichts</a:t>
            </a:r>
          </a:p>
          <a:p>
            <a:pPr lvl="0"/>
            <a:r>
              <a:rPr/>
              <a:t>Zu winzig → Regeln auf einer Handvoll Fälle; </a:t>
            </a:r>
            <a:r>
              <a:rPr>
                <a:latin typeface="Courier"/>
              </a:rPr>
              <a:t>count</a:t>
            </a:r>
            <a:r>
              <a:rPr/>
              <a:t> immer mitlesen</a:t>
            </a:r>
          </a:p>
          <a:p>
            <a:pPr lvl="0"/>
            <a:r>
              <a:rPr/>
              <a:t>Ohne </a:t>
            </a:r>
            <a:r>
              <a:rPr>
                <a:latin typeface="Courier"/>
              </a:rPr>
              <a:t>unique()</a:t>
            </a:r>
            <a:r>
              <a:rPr/>
              <a:t> je Korb und ISBN-Deduplizierung: Empfehlung = dasselbe Buch in anderer Auflage</a:t>
            </a:r>
          </a:p>
          <a:p>
            <a:pPr lvl="0"/>
            <a:r>
              <a:rPr/>
              <a:t>Komplette Pipeline zum Nachrechnen: → Notebook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Über Apriori hinaus: die Data-Mining-Werkzeugkiste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Eine Landkarte der Verfahren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Unüberwacht</a:t>
            </a:r>
            <a:r>
              <a:rPr/>
              <a:t> — Muster finden, ohne dass jemand die „richtige Antwort” vorgibt:</a:t>
            </a:r>
          </a:p>
          <a:p>
            <a:pPr lvl="1"/>
            <a:r>
              <a:rPr/>
              <a:t>Assoziationsregeln, Clustering, Netzwerkanalyse, Anomalieerkennung</a:t>
            </a:r>
          </a:p>
          <a:p>
            <a:pPr lvl="0"/>
            <a:r>
              <a:rPr b="1"/>
              <a:t>Überwacht</a:t>
            </a:r>
            <a:r>
              <a:rPr/>
              <a:t> — aus Beispielen mit bekanntem Ergebnis lernen:</a:t>
            </a:r>
          </a:p>
          <a:p>
            <a:pPr lvl="1"/>
            <a:r>
              <a:rPr/>
              <a:t>Klassifikation, Recommender mit Bewertungen</a:t>
            </a:r>
          </a:p>
          <a:p>
            <a:pPr lvl="0"/>
            <a:r>
              <a:rPr/>
              <a:t>Alle folgenden Verfahren laufen auf demselben BookCrossing-Datensatz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persönliche Empfehlungen?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Apriori liefert eine Regel für alle — jetzt soll es persönlich werden</a:t>
            </a:r>
          </a:p>
          <a:p>
            <a:pPr lvl="0"/>
            <a:r>
              <a:rPr/>
              <a:t>Aufgabe: Eine Empfehlung speziell für Nutzerin 198711, nur aus den Bewertungsdaten</a:t>
            </a:r>
          </a:p>
          <a:p>
            <a:pPr lvl="0"/>
            <a:r>
              <a:rPr b="1"/>
              <a:t>Wie würden Sie ihren Geschmack fassen — und mit wem vergleichen?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Collaborative Filtering: Wie macht Spotify das?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Charts gefallen Ihnen nicht — und trotzdem trifft Spotify Ihren Geschmack. Wie?</a:t>
            </a:r>
          </a:p>
          <a:p>
            <a:pPr lvl="0"/>
            <a:r>
              <a:rPr/>
              <a:t>Nicht über den Inhalt: Der Algorithmus weiß nicht, was ein Genre ist</a:t>
            </a:r>
          </a:p>
          <a:p>
            <a:pPr lvl="0"/>
            <a:r>
              <a:rPr/>
              <a:t>Sondern über </a:t>
            </a:r>
            <a:r>
              <a:rPr b="1"/>
              <a:t>Geschmacksnachbarn</a:t>
            </a:r>
            <a:r>
              <a:rPr/>
              <a:t>: Menschen, die bisher ähnlich bewertet haben wie Sie</a:t>
            </a:r>
          </a:p>
          <a:p>
            <a:pPr lvl="0"/>
            <a:r>
              <a:rPr/>
              <a:t>Was die mochten und Sie noch nicht kennen — das ist Ihre Empfehlung</a:t>
            </a:r>
          </a:p>
          <a:p>
            <a:pPr lvl="0"/>
            <a:r>
              <a:rPr/>
              <a:t>Unterschied zu Apriori: nicht </a:t>
            </a:r>
            <a:r>
              <a:rPr i="1"/>
              <a:t>eine</a:t>
            </a:r>
            <a:r>
              <a:rPr/>
              <a:t> Regel für alle, sondern eine </a:t>
            </a:r>
            <a:r>
              <a:rPr b="1"/>
              <a:t>persönliche</a:t>
            </a:r>
            <a:r>
              <a:rPr/>
              <a:t> Liste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Collaborative Filtering: Wie es funktioniert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Wieder die große Tabelle: eine Zeile pro Nutzer:in, eine Spalte pro Buch, in den Zellen die Noten</a:t>
            </a:r>
          </a:p>
          <a:p>
            <a:pPr lvl="0"/>
            <a:r>
              <a:rPr/>
              <a:t>Schritt 1: Finde die Zeilen, die Ihrer Zeile am ähnlichsten sind</a:t>
            </a:r>
          </a:p>
          <a:p>
            <a:pPr lvl="0"/>
            <a:r>
              <a:rPr/>
              <a:t>Schritt 2: Was steht dort gut bewertet, fehlt aber bei Ihnen? → Empfehlung</a:t>
            </a:r>
          </a:p>
          <a:p>
            <a:pPr lvl="0"/>
            <a:r>
              <a:rPr/>
              <a:t>Hier schlägt die Sparsity zu: fast leere Zeilen kann man nicht vergleichen</a:t>
            </a:r>
          </a:p>
          <a:p>
            <a:pPr lvl="0"/>
            <a:r>
              <a:rPr/>
              <a:t>Deshalb erst eindampfen — übrig bleiben 743 aktive Leser:innen × 477 populäre Bücher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Collaborative Filtering: Funktioniert das wirklich?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 Test funktioniert wie in der Schule: Wir verstecken einen Teil der Bewertungen und lassen das Verfahren raten</a:t>
            </a:r>
          </a:p>
          <a:p>
            <a:pPr lvl="0"/>
            <a:r>
              <a:rPr/>
              <a:t>Ergebnis: deutlich besser als Zufallsempfehlungen (ROC-Kurve → Notebook)</a:t>
            </a:r>
          </a:p>
          <a:p>
            <a:pPr lvl="0"/>
            <a:r>
              <a:rPr/>
              <a:t>Die Empfehlungslisten sind in sich stimmig — obwohl niemand dem System je „Genre” beigebracht hat</a:t>
            </a:r>
          </a:p>
          <a:p>
            <a:pPr lvl="0"/>
            <a:r>
              <a:rPr/>
              <a:t>Schwäche: Wer noch nichts bewertet hat, bekommt nichts; was neu ist, wird nicht empfohlen (</a:t>
            </a:r>
            <a:r>
              <a:rPr b="1"/>
              <a:t>Cold Start</a:t>
            </a:r>
            <a:r>
              <a:rPr/>
              <a:t>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liest man das Testergebnis?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Drei Kandidaten treten an:</a:t>
            </a:r>
          </a:p>
          <a:p>
            <a:pPr lvl="1"/>
            <a:r>
              <a:rPr b="1"/>
              <a:t>UBCF</a:t>
            </a:r>
            <a:r>
              <a:rPr/>
              <a:t> — empfiehlt über ähnliche </a:t>
            </a:r>
            <a:r>
              <a:rPr i="1"/>
              <a:t>Personen</a:t>
            </a:r>
            <a:r>
              <a:rPr/>
              <a:t> („Geschmacksnachbarn”)</a:t>
            </a:r>
          </a:p>
          <a:p>
            <a:pPr lvl="1"/>
            <a:r>
              <a:rPr b="1"/>
              <a:t>IBCF</a:t>
            </a:r>
            <a:r>
              <a:rPr/>
              <a:t> — empfiehlt über ähnliche </a:t>
            </a:r>
            <a:r>
              <a:rPr i="1"/>
              <a:t>Bücher</a:t>
            </a:r>
            <a:r>
              <a:rPr/>
              <a:t> („wer dieses mochte, mochte auch …“)</a:t>
            </a:r>
          </a:p>
          <a:p>
            <a:pPr lvl="1"/>
            <a:r>
              <a:rPr b="1"/>
              <a:t>RANDOM</a:t>
            </a:r>
            <a:r>
              <a:rPr/>
              <a:t> — würfelt (unsere Untergrenze)</a:t>
            </a:r>
          </a:p>
          <a:p>
            <a:pPr lvl="0"/>
            <a:r>
              <a:rPr/>
              <a:t>Zwei Achsen:</a:t>
            </a:r>
          </a:p>
          <a:p>
            <a:pPr lvl="1"/>
            <a:r>
              <a:rPr/>
              <a:t>Nach oben (</a:t>
            </a:r>
            <a:r>
              <a:rPr b="1"/>
              <a:t>TPR</a:t>
            </a:r>
            <a:r>
              <a:rPr/>
              <a:t>): Wie viele der versteckten Lieblingsbücher wurden gefunden?</a:t>
            </a:r>
          </a:p>
          <a:p>
            <a:pPr lvl="1"/>
            <a:r>
              <a:rPr/>
              <a:t>Nach rechts (</a:t>
            </a:r>
            <a:r>
              <a:rPr b="1"/>
              <a:t>FPR</a:t>
            </a:r>
            <a:r>
              <a:rPr/>
              <a:t>): Wie viele Empfehlungen waren daneben?</a:t>
            </a:r>
          </a:p>
          <a:p>
            <a:pPr lvl="0"/>
            <a:r>
              <a:rPr/>
              <a:t>Gut ist: viel nach oben, wenig nach rechts — also eine Kurve, die über der Diagonale liegt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Test im Bild</a:t>
            </a:r>
          </a:p>
        </p:txBody>
      </p:sp>
      <p:pic>
        <p:nvPicPr>
          <p:cNvPr descr="images/roc_c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638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Beide Verfahren liegen deutlich über der Zufallslinie — besser als Raten sollte jedes Empfehlungssystem sein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Lesertypen?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Beschreiben Sie die Nutzerschaft in einer Handvoll Typen — ohne dass jemand die Typen vorgibt</a:t>
            </a:r>
          </a:p>
          <a:p>
            <a:pPr lvl="0"/>
            <a:r>
              <a:rPr b="1"/>
              <a:t>Welche Merkmale aus den Tabellen würden Sie heranziehen? Woran erkennt man „ähnliche” Nutzer:innen?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Lesertypen finden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</a:t>
            </a:r>
            <a:r>
              <a:rPr b="1"/>
              <a:t>Gruppiere Ähnliches, ohne vorher Gruppen festzulegen</a:t>
            </a:r>
          </a:p>
          <a:p>
            <a:pPr lvl="0"/>
            <a:r>
              <a:rPr/>
              <a:t>Denken Sie an eine Schule: 800 Schulkinder (10–20 Jahre), 100 Lehrkräfte (30–65 Jahre)</a:t>
            </a:r>
          </a:p>
          <a:p>
            <a:pPr lvl="0"/>
            <a:r>
              <a:rPr/>
              <a:t>Ein Algorithmus, der das Konzept „Lehrkraft” gar nicht kennt, findet die zwei Gruppen trotzdem — allein über die Altersabstände</a:t>
            </a:r>
          </a:p>
          <a:p>
            <a:pPr lvl="0"/>
            <a:r>
              <a:rPr/>
              <a:t>Mehr braucht es nicht: Abstände messen, Nahes zusammenfassen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Clustering: Welche Lesertypen stecken in BookCrossing?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Wir beschreiben jede:n Nutzer:in mit vier Zahlen: Wie viele Bücher? Wie oft bewertet? Wie streng? Wie schwankend?</a:t>
            </a:r>
          </a:p>
          <a:p>
            <a:pPr lvl="0"/>
            <a:r>
              <a:rPr/>
              <a:t>k-means findet vier Gruppen (Zahlen → Notebook):</a:t>
            </a:r>
          </a:p>
          <a:p>
            <a:pPr lvl="1"/>
            <a:r>
              <a:rPr/>
              <a:t>Die </a:t>
            </a:r>
            <a:r>
              <a:rPr b="1"/>
              <a:t>Vielleser:innen</a:t>
            </a:r>
            <a:r>
              <a:rPr/>
              <a:t> — 83 Bücher im Regal (Median)</a:t>
            </a:r>
          </a:p>
          <a:p>
            <a:pPr lvl="1"/>
            <a:r>
              <a:rPr/>
              <a:t>Die </a:t>
            </a:r>
            <a:r>
              <a:rPr b="1"/>
              <a:t>Wohlwollenden</a:t>
            </a:r>
            <a:r>
              <a:rPr/>
              <a:t> — bewerten fast alles, Durchschnittsnote 7,8</a:t>
            </a:r>
          </a:p>
          <a:p>
            <a:pPr lvl="1"/>
            <a:r>
              <a:rPr/>
              <a:t>Die </a:t>
            </a:r>
            <a:r>
              <a:rPr b="1"/>
              <a:t>Strengen</a:t>
            </a:r>
            <a:r>
              <a:rPr/>
              <a:t> — Note 6,5 bei der größten Schwankung</a:t>
            </a:r>
          </a:p>
          <a:p>
            <a:pPr lvl="1"/>
            <a:r>
              <a:rPr/>
              <a:t>Die </a:t>
            </a:r>
            <a:r>
              <a:rPr b="1"/>
              <a:t>stillen Sammler:innen</a:t>
            </a:r>
            <a:r>
              <a:rPr/>
              <a:t> — erfassen viel, bewerten kaum</a:t>
            </a:r>
          </a:p>
          <a:p>
            <a:pPr lvl="0"/>
            <a:r>
              <a:rPr/>
              <a:t>Die Namen stammen von mir, nicht vom Algorithmus — </a:t>
            </a:r>
            <a:r>
              <a:rPr b="1"/>
              <a:t>deuten muss der Mensch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Gefällt das Buch?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Sagen Sie vorher, ob eine Leserin ein Buch mit 7+ benoten wird</a:t>
            </a:r>
          </a:p>
          <a:p>
            <a:pPr lvl="0"/>
            <a:r>
              <a:rPr/>
              <a:t>Zur Verfügung stehen nur: ihr Alter, das Erscheinungsjahr, die Popularität des Buchs</a:t>
            </a:r>
          </a:p>
          <a:p>
            <a:pPr lvl="0"/>
            <a:r>
              <a:rPr b="1"/>
              <a:t>Reicht das? Was würden Sie daraus ableiten — und was fehlt Ihnen?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Klassifikation: Woher weiß der Spamfilter, was Spam ist?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Er hat tausende Mails gesehen, die Menschen vorher als Spam markiert haben</a:t>
            </a:r>
          </a:p>
          <a:p>
            <a:pPr lvl="0"/>
            <a:r>
              <a:rPr/>
              <a:t>Das ist </a:t>
            </a:r>
            <a:r>
              <a:rPr b="1"/>
              <a:t>überwachtes Lernen</a:t>
            </a:r>
            <a:r>
              <a:rPr/>
              <a:t>: aus Fällen mit bekannter Antwort lernen, neue Fälle vorhersagen</a:t>
            </a:r>
          </a:p>
          <a:p>
            <a:pPr lvl="0"/>
            <a:r>
              <a:rPr/>
              <a:t>Der Unterschied zum Clustering: Dort sucht der Algorithmus selbst nach Gruppen — hier geben wir die „richtige Antwort” zum Üben vor</a:t>
            </a:r>
          </a:p>
          <a:p>
            <a:pPr lvl="0"/>
            <a:r>
              <a:rPr/>
              <a:t>Unsere Frage an BookCrossing: </a:t>
            </a:r>
            <a:r>
              <a:rPr b="1"/>
              <a:t>Wird diese Leserin dieses Buch mögen?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Klassifikation: Der Entscheidungsbaum als Auskunftsgespräch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Das Modell stellt nacheinander Ja/Nein-Fragen: Ist das Buch populär? Ist die Leserin über 30?</a:t>
            </a:r>
          </a:p>
          <a:p>
            <a:pPr lvl="0"/>
            <a:r>
              <a:rPr/>
              <a:t>Jede Frage teilt die Fälle weiter auf — am Ende jedes Astes steht eine Vorhersage</a:t>
            </a:r>
          </a:p>
          <a:p>
            <a:pPr lvl="0"/>
            <a:r>
              <a:rPr/>
              <a:t>Gelernt werden die Fragen aus den Beispielen: Der Baum wählt selbst, welche Frage am besten trennt</a:t>
            </a:r>
          </a:p>
          <a:p>
            <a:pPr lvl="0"/>
            <a:r>
              <a:rPr/>
              <a:t>Großer Vorteil gegenüber „Black Boxes”: Man kann den Baum </a:t>
            </a:r>
            <a:r>
              <a:rPr b="1"/>
              <a:t>lesen</a:t>
            </a:r>
            <a:r>
              <a:rPr/>
              <a:t> und Betroffenen erklären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sieht unser Baum aus</a:t>
            </a:r>
          </a:p>
        </p:txBody>
      </p:sp>
      <p:pic>
        <p:nvPicPr>
          <p:cNvPr descr="images/entscheidungsbau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638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Jede Verzweigung ist eine Frage, jedes Blatt eine Vorhersage — den kann man Betroffenen zeigen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Klassifikation: Die 77-Prozent-Falle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Unser Baum liegt in 77 % der Fälle richtig. Klingt ordentlich?</a:t>
            </a:r>
          </a:p>
          <a:p>
            <a:pPr lvl="0"/>
            <a:r>
              <a:rPr/>
              <a:t>Der Haken: Er sagt fast immer „mag es” — von 4.384 „Gefällt nicht”-Fällen erkennt er ganze </a:t>
            </a:r>
            <a:r>
              <a:rPr b="1"/>
              <a:t>37</a:t>
            </a:r>
          </a:p>
          <a:p>
            <a:pPr lvl="0"/>
            <a:r>
              <a:rPr/>
              <a:t>Ein Modell, das stur </a:t>
            </a:r>
            <a:r>
              <a:rPr i="1"/>
              <a:t>immer</a:t>
            </a:r>
            <a:r>
              <a:rPr/>
              <a:t> „mag es” sagt, käme auf fast dieselbe Quote</a:t>
            </a:r>
          </a:p>
          <a:p>
            <a:pPr lvl="0"/>
            <a:r>
              <a:rPr b="1"/>
              <a:t>Bei schiefen Klassen lügt die Trefferquote</a:t>
            </a:r>
            <a:r>
              <a:rPr/>
              <a:t> — darum immer in die Confusion Matrix schauen</a:t>
            </a:r>
          </a:p>
          <a:p>
            <a:pPr lvl="0"/>
            <a:r>
              <a:rPr/>
              <a:t>(Kommt Ihnen bekannt vor? Häufig ≠ relevant — dasselbe Problem wie bei den Bestsellern)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Dubletten?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„The Green Mile”, „Der Green Mile”, „The Green Mile (Signet)” — finden Sie alle Auflagen desselben Werks unter 271.000 Titeln</a:t>
            </a:r>
          </a:p>
          <a:p>
            <a:pPr lvl="0"/>
            <a:r>
              <a:rPr b="1"/>
              <a:t>Wie würden Sie das angehen — von Hand, mit Regeln, mit Normdaten? Und wie lange bräuchten Sie?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Record Linkage: Ist das dasselbe Buch?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</a:t>
            </a:r>
            <a:r>
              <a:rPr b="1"/>
              <a:t>Einträge zusammenführen, die dasselbe Objekt beschreiben</a:t>
            </a:r>
          </a:p>
          <a:p>
            <a:pPr lvl="0"/>
            <a:r>
              <a:rPr/>
              <a:t>„The Green Mile”, „Der Green Mile”, „The Green Mile (Signet)” — ein Werk, drei Datensätze</a:t>
            </a:r>
          </a:p>
          <a:p>
            <a:pPr lvl="0"/>
            <a:r>
              <a:rPr/>
              <a:t>Das ist FRBR als Data-Mining-Problem: Werk vs. Manifestation</a:t>
            </a:r>
          </a:p>
          <a:p>
            <a:pPr lvl="0"/>
            <a:r>
              <a:rPr b="1"/>
              <a:t>Hier sind Sie die Expert:innen</a:t>
            </a:r>
            <a:r>
              <a:rPr/>
              <a:t> — Normdaten und Dublettenkontrolle sind genau das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Record Linkage: Wie der Computer Titel vergleicht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String-Ähnlichkeit: „the green mile” und „der green mile” teilen fast alle Buchstaben in fast derselben Reihenfolge — Ähnlichkeit fast 1</a:t>
            </a:r>
          </a:p>
          <a:p>
            <a:pPr lvl="0"/>
            <a:r>
              <a:rPr/>
              <a:t>Aber: alle 271.000 Titel paarweise vergleichen wären ~37 Milliarden Vergleiche</a:t>
            </a:r>
          </a:p>
          <a:p>
            <a:pPr lvl="0"/>
            <a:r>
              <a:rPr/>
              <a:t>Der Trick (wie bei Apriori!): vorher grob aussieben — verglichen wird nur innerhalb desselben Autors (</a:t>
            </a:r>
            <a:r>
              <a:rPr b="1"/>
              <a:t>Blocking</a:t>
            </a:r>
            <a:r>
              <a:rPr/>
              <a:t>)</a:t>
            </a:r>
          </a:p>
          <a:p>
            <a:pPr lvl="0"/>
            <a:r>
              <a:rPr/>
              <a:t>Ergebnis: Allein bei Stephen King fallen 77 Titelvarianten zu 35 Werken zusammen — im ganzen Datensatz stecken über 40.000 Mehrfach-ISBNs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Was stimmt hier nicht?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Im Datensatz stecken kaputte und unglaubwürdige Einträge — finden Sie sie</a:t>
            </a:r>
          </a:p>
          <a:p>
            <a:pPr lvl="0"/>
            <a:r>
              <a:rPr b="1"/>
              <a:t>Woran würden Sie „verdächtig” festmachen? Welche Werte würden Sie sich zuerst ansehen?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Anomalieerkennung: Was fällt aus dem Rahmen?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Erst das Normale beschreiben — dann das finden, was nicht dazu passt</a:t>
            </a:r>
          </a:p>
          <a:p>
            <a:pPr lvl="0"/>
            <a:r>
              <a:rPr/>
              <a:t>Eine Nutzerin hat 7.550 Bücher bewertet. Das wäre </a:t>
            </a:r>
            <a:r>
              <a:rPr b="1"/>
              <a:t>ein Buch pro Tag, zwanzig Jahre lang</a:t>
            </a:r>
          </a:p>
          <a:p>
            <a:pPr lvl="0"/>
            <a:r>
              <a:rPr/>
              <a:t>Plausibler: Massenimport oder Automatisierung</a:t>
            </a:r>
          </a:p>
          <a:p>
            <a:pPr lvl="0"/>
            <a:r>
              <a:rPr/>
              <a:t>Rauswerfen oder drinlassen? Beides vertretbar — aber </a:t>
            </a:r>
            <a:r>
              <a:rPr b="1"/>
              <a:t>entscheiden und dokumentieren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Anomalien erzählen Geschichten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Wild Animus</a:t>
            </a:r>
            <a:r>
              <a:rPr/>
              <a:t>: 238 Bewertungen (Spitzenwert) — Durchschnittsnote 4,1 (mit Abstand Tiefstwert)</a:t>
            </a:r>
          </a:p>
          <a:p>
            <a:pPr lvl="0"/>
            <a:r>
              <a:rPr/>
              <a:t>Kein Datenfehler: Das Buch wurde Anfang der 2000er massenhaft verschenkt</a:t>
            </a:r>
          </a:p>
          <a:p>
            <a:pPr lvl="0"/>
            <a:r>
              <a:rPr/>
              <a:t>Im Streudiagramm Popularität × Note springt der Punkt sofort ins Auge</a:t>
            </a:r>
          </a:p>
          <a:p>
            <a:pPr lvl="0"/>
            <a:r>
              <a:rPr/>
              <a:t>Anomalien sind nicht immer Schmutz — </a:t>
            </a:r>
            <a:r>
              <a:rPr b="1"/>
              <a:t>manchmal sind sie der interessanteste Befund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Ausreißer im Bild</a:t>
            </a:r>
          </a:p>
        </p:txBody>
      </p:sp>
      <p:pic>
        <p:nvPicPr>
          <p:cNvPr descr="images/popularitaet_vs_no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64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Jeder Punkt ein Buch — rechts unten, allein: </a:t>
            </a:r>
            <a:r>
              <a:rPr i="1"/>
              <a:t>Wild Animus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würden Sie es lösen: das große Ganze zeigen?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Aufgabe: Zeigen Sie einer Kollegin </a:t>
            </a:r>
            <a:r>
              <a:rPr i="1"/>
              <a:t>auf einen Blick</a:t>
            </a:r>
            <a:r>
              <a:rPr/>
              <a:t>, welche Bücher zusammengehören</a:t>
            </a:r>
          </a:p>
          <a:p>
            <a:pPr lvl="0"/>
            <a:r>
              <a:rPr b="1"/>
              <a:t>Wie würden Sie 400.000 Bewertungszeilen in ein einziges Bild verwandeln?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Netzwerkanalyse: Die Landkarte der Bücher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Idee: Male jedes Buch als Punkt — und verbinde zwei Punkte, wenn dieselben Menschen beide Bücher haben</a:t>
            </a:r>
          </a:p>
          <a:p>
            <a:pPr lvl="0"/>
            <a:r>
              <a:rPr/>
              <a:t>Je mehr gemeinsame Leser:innen, desto dicker die Linie</a:t>
            </a:r>
          </a:p>
          <a:p>
            <a:pPr lvl="0"/>
            <a:r>
              <a:rPr/>
              <a:t>Aus einer Tabelle mit 400.000 Zeilen wird </a:t>
            </a:r>
            <a:r>
              <a:rPr b="1"/>
              <a:t>ein Bild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Karte</a:t>
            </a:r>
          </a:p>
        </p:txBody>
      </p:sp>
      <p:pic>
        <p:nvPicPr>
          <p:cNvPr descr="images/netzwer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Jeder Punkt ein Buch, jede Linie gemeinsame Leser:innen — die Farben sind die automatisch gefundenen Gruppen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Netzwerkanalyse: Was die Karte zeigt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Auf der Karte bilden sich „Inseln”: Bücher, die untereinander dicht verbunden sind</a:t>
            </a:r>
          </a:p>
          <a:p>
            <a:pPr lvl="0"/>
            <a:r>
              <a:rPr/>
              <a:t>Ein Algorithmus findet diese Inseln automatisch (Community Detection) — z. B. den Dan-Brown-Cluster</a:t>
            </a:r>
          </a:p>
          <a:p>
            <a:pPr lvl="0"/>
            <a:r>
              <a:rPr/>
              <a:t>Niemand hat dem System Genres beigebracht: </a:t>
            </a:r>
            <a:r>
              <a:rPr b="1"/>
              <a:t>Die Leser:innen haben die Karte gezeichnet</a:t>
            </a:r>
          </a:p>
          <a:p>
            <a:pPr lvl="0"/>
            <a:r>
              <a:rPr/>
              <a:t>Dieselbe Information wie bei Apriori — als Bild statt als Regelliste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Welches Verfahren für welche Frage?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Alle sieben mit Code und Ergebnissen im Notebook: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Verfahren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wird zusammen gelesen?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Assoziationsregeln (Apriori)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empfehle ich </a:t>
                      </a:r>
                      <a:r>
                        <a:rPr i="1"/>
                        <a:t>dieser</a:t>
                      </a:r>
                      <a:r>
                        <a:rPr/>
                        <a:t> Person?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Collaborative Filtering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Welche Lesertypen gibt es?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Clustering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Wird ein Buch gefallen?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Klassifikation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Sind das Dubletten?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Record Linkage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ist hier faul?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Anomalieerkennung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 hängt alles zusammen?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Netzwerkanalyse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— Ihre Meinung?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Apriori personalisiert nicht: globale Regeln, kein individuelles Profil</a:t>
            </a:r>
          </a:p>
          <a:p>
            <a:pPr lvl="0"/>
            <a:r>
              <a:rPr/>
              <a:t>Cold Start: neue Bücher ohne Bewertungen bleiben unsichtbar</a:t>
            </a:r>
          </a:p>
          <a:p>
            <a:pPr lvl="0"/>
            <a:r>
              <a:rPr/>
              <a:t>Feedback-Schleife: Häufiges wird noch häufiger</a:t>
            </a:r>
          </a:p>
          <a:p>
            <a:pPr lvl="0"/>
            <a:r>
              <a:rPr b="1"/>
              <a:t>Wollen Bibliotheken Filterblasen — oder ist Serendipität ein Bibliothekswert?</a:t>
            </a:r>
          </a:p>
          <a:p>
            <a:pPr lvl="0"/>
            <a:r>
              <a:rPr b="1"/>
              <a:t>Dürfen wir Ausleihdaten so nutzen? Was unterscheidet uns von Amazon?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(wenn Zeit)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Train/Test-Split: Regeln auf 80 % lernen, auf 20 % prüfen</a:t>
            </a:r>
          </a:p>
          <a:p>
            <a:pPr lvl="0"/>
            <a:r>
              <a:rPr/>
              <a:t>Confusion Matrix: empfohlen &amp; gelesen = True Positive</a:t>
            </a:r>
          </a:p>
          <a:p>
            <a:pPr lvl="0"/>
            <a:r>
              <a:rPr/>
              <a:t>Nicht alle Fehler sind gleich teuer — was kostet eine schlechte Buchempfehlung?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Ihre Praxisfragen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Zum Abschluss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Eine Sache, die heute hängen geblieben ist?</a:t>
            </a:r>
          </a:p>
          <a:p>
            <a:pPr lvl="0"/>
            <a:r>
              <a:rPr/>
              <a:t>Materialien: Ablaufplan, Quarto-Notebook mit allem Code</a:t>
            </a:r>
          </a:p>
          <a:p>
            <a:pPr lvl="0"/>
            <a:r>
              <a:rPr b="1"/>
              <a:t>Kontakt:</a:t>
            </a:r>
            <a:r>
              <a:rPr/>
              <a:t> </a:t>
            </a:r>
            <a:r>
              <a:rPr>
                <a:hlinkClick r:id="rId2"/>
              </a:rPr>
              <a:t>tom@alby.de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Konsultation Data Mining</dc:title>
  <dc:creator>Tom Alby</dc:creator>
  <cp:keywords/>
  <dcterms:created xsi:type="dcterms:W3CDTF">2026-06-13T05:44:28Z</dcterms:created>
  <dcterms:modified xsi:type="dcterms:W3CDTF">2026-06-13T05:44:28Z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2026-06-13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Fernstudium Bibliotheks- und Informationswissenschaft, IBI</vt:lpwstr>
  </property>
  <property fmtid="{D5CDD505-2E9C-101B-9397-08002B2CF9AE}" pid="12" name="toc-title">
    <vt:lpwstr>Table of contents</vt:lpwstr>
  </property>
</Properties>
</file>