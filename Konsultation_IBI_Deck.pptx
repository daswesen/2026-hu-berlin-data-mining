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54" d="100"/>
          <a:sy n="154" d="100"/>
        </p:scale>
        <p:origin x="528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tom@alby.d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Konsultation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Fernstudium Bibliotheks- und Informationswissenschaft, IBI</a:t>
            </a:r>
            <a:br/>
            <a:br/>
            <a:r>
              <a:t>Tom Alby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Konzepte klären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Ziele dieser Konsultation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Offene Fragen zu den Materialien klären</a:t>
            </a:r>
          </a:p>
          <a:p>
            <a:pPr lvl="0"/>
            <a:r>
              <a:t>Die Begriffe sauber sortieren: KI, ML, LLMs, Data Science, Data Mining</a:t>
            </a:r>
          </a:p>
          <a:p>
            <a:pPr lvl="0"/>
            <a:r>
              <a:t>Data Mining mit dem BookCrossing-Datensatz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Ablauf heute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Inhalt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Begriffe &amp; Konzepte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Hands-on Data Mining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Logistik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Fragen:</a:t>
            </a:r>
            <a:r>
              <a:t> Bitte unterbrechen Sie mich für Fragen</a:t>
            </a:r>
          </a:p>
          <a:p>
            <a:pPr lvl="0"/>
            <a:r>
              <a:rPr b="1"/>
              <a:t>Kontakt:</a:t>
            </a:r>
            <a:r>
              <a:t> </a:t>
            </a:r>
            <a:r>
              <a:rPr>
                <a:hlinkClick r:id="rId2"/>
              </a:rPr>
              <a:t>tom@alby.de</a:t>
            </a:r>
          </a:p>
          <a:p>
            <a:pPr lvl="0"/>
            <a:r>
              <a:t>Material auf GitHub (Link im Moodle)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Womit starten wir?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Welche Materialien haben Sie durchgearbeitet?</a:t>
            </a:r>
          </a:p>
          <a:p>
            <a:pPr lvl="0"/>
            <a:r>
              <a:t>Wo hakte 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Begriffe sortiert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KI:</a:t>
            </a:r>
            <a:r>
              <a:t> Maschinen verhalten sich intelligent.</a:t>
            </a:r>
          </a:p>
          <a:p>
            <a:pPr lvl="0"/>
            <a:r>
              <a:rPr b="1"/>
              <a:t>Machine Learning:</a:t>
            </a:r>
            <a:r>
              <a:t> Teilmenge der KI, Systeme lernen selbstständig aus Daten.</a:t>
            </a:r>
          </a:p>
          <a:p>
            <a:pPr lvl="0"/>
            <a:r>
              <a:rPr b="1"/>
              <a:t>LLMs:</a:t>
            </a:r>
            <a:r>
              <a:t> Spezialform von ML, Modelle, die menschliche Sprache “verstehen” und generieren.</a:t>
            </a:r>
          </a:p>
          <a:p>
            <a:pPr lvl="0"/>
            <a:r>
              <a:rPr b="1"/>
              <a:t>Data Mining:</a:t>
            </a:r>
            <a:r>
              <a:t> Mustererkennung in strukturierten Daten.</a:t>
            </a:r>
          </a:p>
          <a:p>
            <a:pPr lvl="0"/>
            <a:r>
              <a:rPr b="1"/>
              <a:t>Text Mining:</a:t>
            </a:r>
            <a:r>
              <a:t> Mustererkennung in unstrukturierten Texten</a:t>
            </a:r>
          </a:p>
          <a:p>
            <a:pPr lvl="0"/>
            <a:r>
              <a:rPr b="1"/>
              <a:t>Data Science:</a:t>
            </a:r>
            <a:r>
              <a:t> Die Disziplin drumherum, von der Analyse bis zum Business-Einsatz.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Standortbestimmung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Wo begegnen / nutzen Sie KI / Data Mining heute schon?</a:t>
            </a:r>
          </a:p>
          <a:p>
            <a:pPr lvl="0"/>
            <a:r>
              <a:t>Wo würden Sie gerne KI / Data Mining nutzen?</a:t>
            </a:r>
          </a:p>
          <a:p>
            <a:pPr lvl="0"/>
            <a:r>
              <a:t>Welche KI-Versprechen hören Bibliotheken aktuell von Anbietern?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Mandl: Data Mining = strukturierte Daten, Text Mining = unstrukturierte Texte</a:t>
            </a:r>
          </a:p>
          <a:p>
            <a:pPr lvl="0"/>
            <a:r>
              <a:t>Wo liegen Bibliothekskataloge auf diesem Spektrum?</a:t>
            </a:r>
          </a:p>
          <a:p>
            <a:pPr lvl="0"/>
            <a:r>
              <a:t>Metadaten vs. Abstracts vs. Volltexte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Der BookCrossing-Datensatz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2004 von Cai-Nicolas Ziegler aus der BookCrossing-Community gecrawlt</a:t>
            </a:r>
          </a:p>
          <a:p>
            <a:pPr lvl="0"/>
            <a:r>
              <a:t>Demos in diesem Deck nutzen ein Teilsample (~494.000 Bewertungen):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Der BookCrossing-Datensatz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Größe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BX-Users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User-ID, Location,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~278.000 Nutzer:innen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BX-Books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ISBN, Titel, Autor, Jahr, Verlag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~271.000 Bücher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BX-Book-Ratings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User-ID, ISBN, Rating 0–10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~1,15 Mio. Bewertungen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CRISP-DM</a:t>
            </a:r>
          </a:p>
        </p:txBody>
      </p:sp>
      <p:pic>
        <p:nvPicPr>
          <p:cNvPr id="3" name="Picture 1" descr="images/CRISP-DM_Process_Diagra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78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Was stimmt im BookCrossings-Daten nicht?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Ratings:</a:t>
            </a:r>
            <a:r>
              <a:t> 0 ist kein Bewertung, sondern </a:t>
            </a:r>
            <a:r>
              <a:rPr b="1"/>
              <a:t>implizit</a:t>
            </a:r>
            <a:r>
              <a:t>.</a:t>
            </a:r>
          </a:p>
          <a:p>
            <a:pPr lvl="0"/>
            <a:r>
              <a:rPr b="1"/>
              <a:t>Users:</a:t>
            </a:r>
            <a:r>
              <a:t> Age von 0 bis 244, viele NULL; Location als Freitext</a:t>
            </a:r>
          </a:p>
          <a:p>
            <a:pPr lvl="0"/>
            <a:r>
              <a:rPr b="1"/>
              <a:t>Books:</a:t>
            </a:r>
            <a:r>
              <a:t> mehrere ISBNs pro Werk (Auflagen), Erscheinungsjahre 0 und 2050</a:t>
            </a:r>
          </a:p>
          <a:p>
            <a:pPr lvl="0"/>
            <a:r>
              <a:rPr b="1"/>
              <a:t>Technisch:</a:t>
            </a:r>
            <a:r>
              <a:t> Semikolon-CSV, Latin-1, kaputte Escapes</a:t>
            </a:r>
          </a:p>
          <a:p>
            <a:pPr lvl="0"/>
            <a:r>
              <a:rPr b="1"/>
              <a:t>Sparsity:</a:t>
            </a:r>
            <a:r>
              <a:t> 1,15 Mio. Ratings bei 278k × 271k möglichen Paaren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Visualisierung als erster Schritt in der Datenanalyse</a:t>
            </a:r>
          </a:p>
        </p:txBody>
      </p:sp>
      <p:pic>
        <p:nvPicPr>
          <p:cNvPr id="3" name="Picture 1" descr="images/alter_histogram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64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Exkurs: Was heißt Sparsity?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Die Tabelle ist fast leer.</a:t>
            </a:r>
          </a:p>
          <a:p>
            <a:pPr lvl="0"/>
            <a:r>
              <a:t>Beispiel: eine Tabelle mit einer Zeile pro Nutzer:in und einer Spalte pro Buch, in den Zellen die Bewertungen</a:t>
            </a:r>
          </a:p>
          <a:p>
            <a:pPr lvl="0"/>
            <a:r>
              <a:t>278.000 × 271.000 ≈ </a:t>
            </a:r>
            <a:r>
              <a:rPr b="1"/>
              <a:t>75 Milliarden Zellen</a:t>
            </a:r>
            <a:r>
              <a:t> — gefüllt sind ~1 Mio., also </a:t>
            </a:r>
            <a:r>
              <a:rPr b="1"/>
              <a:t>0,002 %</a:t>
            </a:r>
          </a:p>
          <a:p>
            <a:pPr lvl="0"/>
            <a:r>
              <a:t>Selbst die eifrigste Viel-Leserin füllt ihre Zeile zu weniger als 0,1 %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Sparsity: die Folgen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Selbst populäre Buchpaare tauchen nur in einem Promille der Körbe auf — Schwellenwerte müssen winzig sein</a:t>
            </a:r>
          </a:p>
          <a:p>
            <a:pPr lvl="0"/>
            <a:r>
              <a:t>Zwei beliebige Nutzer:innen haben oft </a:t>
            </a:r>
            <a:r>
              <a:rPr b="1"/>
              <a:t>kein einziges</a:t>
            </a:r>
            <a:r>
              <a:t> gemeinsames Buch — Ähnlichkeit lässt sich gar nicht berechnen</a:t>
            </a:r>
          </a:p>
          <a:p>
            <a:pPr lvl="0"/>
            <a:r>
              <a:t>Muster entstehen erst, weil sich Millionen fast leerer Zeilen überlagern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FRBR und Sparsity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Sparsity entsteht, weil Nutzer:innen zu wenige Bücher bewertet haben.</a:t>
            </a:r>
          </a:p>
          <a:p>
            <a:pPr lvl="0"/>
            <a:r>
              <a:t>FRBR: dasselbe Werk taucht unter vielen ISBNs auf: Sparsity wird verschärft, weil wenige Bewertungen für ein Werk auf mehrere ISBNs verteilt werden</a:t>
            </a:r>
          </a:p>
          <a:p>
            <a:pPr lvl="0"/>
            <a:r>
              <a:t>BookCrossing kennt </a:t>
            </a:r>
            <a:r>
              <a:rPr b="1"/>
              <a:t>nur ISBNs = Manifestationen</a:t>
            </a:r>
            <a:r>
              <a:t> — das Werk müssen wir per Data Mining rekonstruieren</a:t>
            </a:r>
          </a:p>
          <a:p>
            <a:pPr lvl="0"/>
            <a:r>
              <a:t>Genau das macht Record Linkage (später)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Data Mining-Ansätze für den BookCrossing-Datensatz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R: Programmiersprache und -umgebung von Statistikern für Statistiker, Open Source</a:t>
            </a:r>
          </a:p>
          <a:p>
            <a:pPr lvl="0"/>
            <a:r>
              <a:t>RStudio: Integrierte Entwicklungsumgebung, kostenlos für viele Zwecke</a:t>
            </a:r>
          </a:p>
          <a:p>
            <a:pPr lvl="0"/>
            <a:r>
              <a:t>Notebook im GitHub, kann mit der Software genutzt werden</a:t>
            </a:r>
          </a:p>
          <a:p>
            <a:pPr lvl="0"/>
            <a:r>
              <a:t>Was ist ein Notebook?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Empfehlungen?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Sie haben drei Tabellen: Nutzer:innen, Bücher, Bewertungen</a:t>
            </a:r>
          </a:p>
          <a:p>
            <a:pPr lvl="0"/>
            <a:r>
              <a:t>Aufgabe: Schlagen Sie Leser:innen passende Bücher vor</a:t>
            </a:r>
          </a:p>
          <a:p>
            <a:pPr lvl="0"/>
            <a:r>
              <a:rPr b="1"/>
              <a:t>Wie würden Sie vorgehen? Welche Spalten brauchen Sie?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Warum nicht einfach die Bestseller empfehlen?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Stellen Sie sich vor, im Supermarkt hängt ein Plakat: „Kaufen Sie doch mal Milch, Toilettenpapier und Butter!”</a:t>
            </a:r>
          </a:p>
          <a:p>
            <a:pPr lvl="0"/>
            <a:r>
              <a:t>Stimmt statistisch — das kauft fast jeder. Aber hilft es </a:t>
            </a:r>
            <a:r>
              <a:rPr i="1"/>
              <a:t>Ihnen</a:t>
            </a:r>
            <a:r>
              <a:t>?</a:t>
            </a:r>
          </a:p>
          <a:p>
            <a:pPr lvl="0"/>
            <a:r>
              <a:t>Genauso nützlich ist die Bestsellerliste als Empfehlung für die einzelne Leserin</a:t>
            </a:r>
          </a:p>
          <a:p>
            <a:pPr lvl="0"/>
            <a:r>
              <a:rPr b="1"/>
              <a:t>Häufig heißt nicht relevant</a:t>
            </a:r>
            <a:r>
              <a:t> — gesucht ist, was zu </a:t>
            </a:r>
            <a:r>
              <a:rPr i="1"/>
              <a:t>diesem</a:t>
            </a:r>
            <a:r>
              <a:t> Bücherregal passt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Idee: Zusammenhänge statt Häufigkeit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Angenommen, in 10 % aller Einkäufe liegt Bier, in 7 % liegen Kartoffelchips</a:t>
            </a:r>
          </a:p>
          <a:p>
            <a:pPr lvl="0"/>
            <a:r>
              <a:t>Jetzt schauen wir nur in die Bierkäufe:</a:t>
            </a:r>
          </a:p>
          <a:p>
            <a:pPr lvl="1"/>
            <a:r>
              <a:t>Liegen auch dort in 7 % Chips → kein Zusammenhang, Chips sind einfach Chips</a:t>
            </a:r>
          </a:p>
          <a:p>
            <a:pPr lvl="1"/>
            <a:r>
              <a:t>Liegen dort in </a:t>
            </a:r>
            <a:r>
              <a:rPr b="1"/>
              <a:t>25 %</a:t>
            </a:r>
            <a:r>
              <a:t> Chips → da ist etwas! Eine </a:t>
            </a:r>
            <a:r>
              <a:rPr b="1"/>
              <a:t>Assoziation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Vom Supermarkt zu BookCrossing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Wer Buch A im Regal hat — welche Bücher stehen bei diesen Leser:innen überdurchschnittlich oft daneben?</a:t>
            </a:r>
          </a:p>
          <a:p>
            <a:pPr lvl="0"/>
            <a:r>
              <a:t>Vorsicht: Eine Regel ist keine Kausalität (auch wenn Wein → Korkenzieher das vermuten lässt)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Von Hand: 8 Leser:innen — je ein „Bücherregal”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74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Leser:in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Bücherregal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 Vinci Code, Angels &amp; Demons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 Vinci Code, Angels &amp; Demons, Life of 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 Vinci Code, Life of 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Angels &amp; Demons, Da Vinci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Life of 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 Vinci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Angels &amp; Demons, Da Vinci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U8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Life of Pi, Bridget Jones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Support: Lohnt sich die Regel überhaupt?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Wir zählen einfach: In wie vielen der 8 Körbe liegen </a:t>
            </a:r>
            <a:r>
              <a:rPr i="1"/>
              <a:t>Angels &amp; Demons</a:t>
            </a:r>
            <a:r>
              <a:t> </a:t>
            </a:r>
            <a:r>
              <a:rPr b="1"/>
              <a:t>und</a:t>
            </a:r>
            <a:r>
              <a:t> </a:t>
            </a:r>
            <a:r>
              <a:rPr i="1"/>
              <a:t>Da Vinci Code</a:t>
            </a:r>
            <a:r>
              <a:t> zusammen?</a:t>
            </a:r>
          </a:p>
          <a:p>
            <a:pPr lvl="0"/>
            <a:r>
              <a:t>In 4 von 8 → Support = </a:t>
            </a:r>
            <a:r>
              <a:rPr b="1"/>
              <a:t>0,5</a:t>
            </a:r>
          </a:p>
          <a:p>
            <a:pPr lvl="0"/>
            <a:r>
              <a:t>Was fast nie vorkommt, ist kein Muster, sondern Zufall — und geschäftlich uninteressant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Konfidenz: Wie verlässlich ist die Regel?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Jetzt schauen wir nur in die Körbe mit </a:t>
            </a:r>
            <a:r>
              <a:rPr i="1"/>
              <a:t>Angels &amp; Demons</a:t>
            </a:r>
            <a:r>
              <a:t> — das sind 4</a:t>
            </a:r>
          </a:p>
          <a:p>
            <a:pPr lvl="0"/>
            <a:r>
              <a:t>In allen 4 liegt auch der </a:t>
            </a:r>
            <a:r>
              <a:rPr i="1"/>
              <a:t>Da Vinci Code</a:t>
            </a:r>
            <a:r>
              <a:t> → Konfidenz = </a:t>
            </a:r>
            <a:r>
              <a:rPr b="1"/>
              <a:t>1,0</a:t>
            </a:r>
          </a:p>
          <a:p>
            <a:pPr lvl="0"/>
            <a:r>
              <a:t>Sprechweise: „Der Da Vinci Code taucht in 100 % der Fälle auf, in denen Angels &amp; Demons auftaucht”</a:t>
            </a:r>
          </a:p>
          <a:p>
            <a:pPr lvl="0"/>
            <a:r>
              <a:t>Achtung: Hat nichts mit den Konfidenzintervallen aus der Statistik zu tun!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Lift: Mehr als nur Popularität?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Der </a:t>
            </a:r>
            <a:r>
              <a:rPr i="1"/>
              <a:t>Da Vinci Code</a:t>
            </a:r>
            <a:r>
              <a:t> liegt sowieso in 6 von 8 Körben — 75 %, ein Bestseller</a:t>
            </a:r>
          </a:p>
          <a:p>
            <a:pPr lvl="0"/>
            <a:r>
              <a:t>Bei den </a:t>
            </a:r>
            <a:r>
              <a:rPr i="1"/>
              <a:t>Angels-&amp;-Demons</a:t>
            </a:r>
            <a:r>
              <a:t>-Leser:innen sind es aber 100 %</a:t>
            </a:r>
          </a:p>
          <a:p>
            <a:pPr lvl="0"/>
            <a:r>
              <a:t>100 % geteilt durch 75 % = Lift </a:t>
            </a:r>
            <a:r>
              <a:rPr b="1"/>
              <a:t>1,33</a:t>
            </a:r>
            <a:r>
              <a:t>: ein Drittel häufiger, als wenn die beiden Bücher nichts miteinander zu tun hätten</a:t>
            </a:r>
          </a:p>
          <a:p>
            <a:pPr lvl="0"/>
            <a:r>
              <a:rPr b="1"/>
              <a:t>Der Lift ist unser Bestseller-Detektor:</a:t>
            </a:r>
            <a:r>
              <a:t> Bei „kaufen sowieso alle” bleibt er bei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Dasselbe mit arules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trans_mini &lt;- </a:t>
            </a:r>
            <a:r>
              <a:rPr>
                <a:solidFill>
                  <a:srgbClr val="4758AB"/>
                </a:solidFill>
                <a:latin typeface="Courier"/>
              </a:rPr>
              <a:t>as</a:t>
            </a:r>
            <a:r>
              <a:rPr>
                <a:solidFill>
                  <a:srgbClr val="003B4F"/>
                </a:solidFill>
                <a:latin typeface="Courier"/>
              </a:rPr>
              <a:t>(mini, </a:t>
            </a:r>
            <a:r>
              <a:rPr>
                <a:solidFill>
                  <a:srgbClr val="20794D"/>
                </a:solidFill>
                <a:latin typeface="Courier"/>
              </a:rPr>
              <a:t>"transactions"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regeln_mini &lt;- </a:t>
            </a:r>
            <a:r>
              <a:rPr>
                <a:solidFill>
                  <a:srgbClr val="4758AB"/>
                </a:solidFill>
                <a:latin typeface="Courier"/>
              </a:rPr>
              <a:t>apriori</a:t>
            </a:r>
            <a:r>
              <a:rPr>
                <a:solidFill>
                  <a:srgbClr val="003B4F"/>
                </a:solidFill>
                <a:latin typeface="Courier"/>
              </a:rPr>
              <a:t>(trans_mini,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parameter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supp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minlen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080000" cy="800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Wenn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Konfidenz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{Angels &amp; Demons}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{Da Vinci Code}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Warum heißt das eigentlich „Apriori”?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Eigentlich müsste man jede Buchkombination mit jeder vergleichen — bei 271.000 Büchern hoffnungslos</a:t>
            </a:r>
          </a:p>
          <a:p>
            <a:pPr lvl="0"/>
            <a:r>
              <a:t>Der Trick (Agrawal et al., 1994): </a:t>
            </a:r>
            <a:r>
              <a:rPr b="1"/>
              <a:t>Was selten ist, fliegt früh raus</a:t>
            </a:r>
            <a:r>
              <a:t> — samt aller Körbe und Kombinationen, in denen es steckt</a:t>
            </a:r>
          </a:p>
          <a:p>
            <a:pPr lvl="0"/>
            <a:r>
              <a:t>Die Logik dahinter: Wenn schon {A, B} selten ist, kann {A, B, C} unmöglich häufig sein</a:t>
            </a:r>
          </a:p>
          <a:p>
            <a:pPr lvl="0"/>
            <a:r>
              <a:t>Das weiß der Algorithmus </a:t>
            </a:r>
            <a:r>
              <a:rPr i="1"/>
              <a:t>a priori</a:t>
            </a:r>
            <a:r>
              <a:t> — vor dem Nachzählen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Jetzt mit den echten Daten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Transaktion = alle Bücher, die ein:e Nutzer:in erfasst hat (auch implizite 0-Ratings: erfasst = gelesen)</a:t>
            </a:r>
          </a:p>
          <a:p>
            <a:pPr lvl="0"/>
            <a:r>
              <a:t>493.813 Bewertungen → 17.460 Körbe mit mindestens 2 Büchern</a:t>
            </a:r>
          </a:p>
          <a:p>
            <a:pPr lvl="0"/>
            <a:r>
              <a:t>Vorarbeit aus der Datenqualitäts-Übung: ISBN-Dubletten entfernt, ein Korb pro Person dedupliziert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Welche Bücher dominieren?</a:t>
            </a:r>
          </a:p>
        </p:txBody>
      </p:sp>
      <p:pic>
        <p:nvPicPr>
          <p:cNvPr id="3" name="Picture 1" descr="Konsultation_IBI_Deck_files/figure-pptx/unnamed-chunk-7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Apriori laufen lassen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regeln &lt;- </a:t>
            </a:r>
            <a:r>
              <a:rPr>
                <a:solidFill>
                  <a:srgbClr val="4758AB"/>
                </a:solidFill>
                <a:latin typeface="Courier"/>
              </a:rPr>
              <a:t>apriori</a:t>
            </a:r>
            <a:r>
              <a:rPr>
                <a:solidFill>
                  <a:srgbClr val="003B4F"/>
                </a:solidFill>
                <a:latin typeface="Courier"/>
              </a:rPr>
              <a:t>(trans,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parameter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supp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0.001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minlen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control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/>
            <a:r>
              <a:t>Drei Zeilen Code, 6.251 gefundene Regeln — schauen wir uns die stärksten 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stärksten Regeln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Wenn gelesen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… dann auch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Konfidenz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Personen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{Guilty Pleasures (Anita Blake Vampire Hunter (Paper…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{Killing Dance (Anita Blake Vamp…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{The Green Mile: Coffey on the Mile (Green Mile Seri…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{The Green Mile: Night Journey (…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{The Green Mile: Coffey on the Mile (Green Mile Seri…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{The Green Mile: Night Journey (…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546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Was sehen wir?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Buchserien dominieren: Die Green-Mile-Bände sagen einander mit Konfidenz 1,0 voraus (Lift &gt; 500)</a:t>
            </a:r>
          </a:p>
          <a:p>
            <a:pPr lvl="0"/>
            <a:r>
              <a:t>Der Algorithmus „kennt” weder Serien noch Genres — er findet sie in den Co-Occurrences</a:t>
            </a:r>
          </a:p>
          <a:p>
            <a:pPr lvl="0"/>
            <a:r>
              <a:t>Aber: Die Top-Regel stützt sich auf 19 Personen — </a:t>
            </a:r>
            <a:r>
              <a:rPr b="1"/>
              <a:t>wie belastbar ist das?</a:t>
            </a:r>
          </a:p>
          <a:p>
            <a:pPr lvl="0"/>
            <a:r>
              <a:t>Und: Hoher Support ≠ gute Empfehlung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Wild Animus: populär, aber zusammenhanglos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itemFrequency</a:t>
            </a:r>
            <a:r>
              <a:rPr>
                <a:solidFill>
                  <a:srgbClr val="003B4F"/>
                </a:solidFill>
                <a:latin typeface="Courier"/>
              </a:rPr>
              <a:t>(trans)[</a:t>
            </a:r>
            <a:r>
              <a:rPr>
                <a:solidFill>
                  <a:srgbClr val="20794D"/>
                </a:solidFill>
                <a:latin typeface="Courier"/>
              </a:rPr>
              <a:t>"Wild Animus"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>
              <a:buNone/>
            </a:pPr>
            <a:r>
              <a:rPr>
                <a:latin typeface="Courier"/>
              </a:rPr>
              <a:t>Wild Animus 
 0.04862543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subset</a:t>
            </a:r>
            <a:r>
              <a:rPr>
                <a:solidFill>
                  <a:srgbClr val="003B4F"/>
                </a:solidFill>
                <a:latin typeface="Courier"/>
              </a:rPr>
              <a:t>(regeln, lhs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"Wild Animus"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&amp;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size</a:t>
            </a:r>
            <a:r>
              <a:rPr>
                <a:solidFill>
                  <a:srgbClr val="003B4F"/>
                </a:solidFill>
                <a:latin typeface="Courier"/>
              </a:rPr>
              <a:t>(lhs)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[1] 0</a:t>
            </a:r>
          </a:p>
          <a:p>
            <a:pPr lvl="0"/>
            <a:r>
              <a:t>In fast 5 % aller Körbe — und trotzdem folgt aus „hat Wild Animus” </a:t>
            </a:r>
            <a:r>
              <a:rPr i="1"/>
              <a:t>allein</a:t>
            </a:r>
            <a:r>
              <a:t> keine einzige verlässliche Regel</a:t>
            </a:r>
          </a:p>
          <a:p>
            <a:pPr lvl="0"/>
            <a:r>
              <a:rPr b="1"/>
              <a:t>Popularität ist kein Muster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Empfehlung konkret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empf &lt;- </a:t>
            </a:r>
            <a:r>
              <a:rPr>
                <a:solidFill>
                  <a:srgbClr val="4758AB"/>
                </a:solidFill>
                <a:latin typeface="Courier"/>
              </a:rPr>
              <a:t>subset</a:t>
            </a:r>
            <a:r>
              <a:rPr>
                <a:solidFill>
                  <a:srgbClr val="003B4F"/>
                </a:solidFill>
                <a:latin typeface="Courier"/>
              </a:rPr>
              <a:t>(regeln, lhs </a:t>
            </a:r>
            <a:r>
              <a:rPr>
                <a:solidFill>
                  <a:srgbClr val="5E5E5E"/>
                </a:solidFill>
                <a:latin typeface="Courier"/>
              </a:rPr>
              <a:t>%pin%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"Harry Potter"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2217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Wer das gelesen hat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… bekommt empfohlen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Konfidenz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Goblet of Fire (Book 4),The Na…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Prisoner 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Goblet of Fire (Book 4),Harry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Chamber of…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Goblet of Fire (Book 4),Harry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{Harry Potter and the Chamber of…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Stellschrauben &amp; Stolpersteine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supp = 0.001</a:t>
            </a:r>
            <a:r>
              <a:t> — bei 271.000 Büchern muss der Support winzig sein (Sparsity), sonst findet Apriori nichts</a:t>
            </a:r>
          </a:p>
          <a:p>
            <a:pPr lvl="0"/>
            <a:r>
              <a:t>Zu winzig → Regeln auf einer Handvoll Fälle; </a:t>
            </a:r>
            <a:r>
              <a:rPr>
                <a:latin typeface="Courier"/>
              </a:rPr>
              <a:t>count</a:t>
            </a:r>
            <a:r>
              <a:t> immer mitlesen</a:t>
            </a:r>
          </a:p>
          <a:p>
            <a:pPr lvl="0"/>
            <a:r>
              <a:t>Ohne </a:t>
            </a:r>
            <a:r>
              <a:rPr>
                <a:latin typeface="Courier"/>
              </a:rPr>
              <a:t>unique()</a:t>
            </a:r>
            <a:r>
              <a:t> je Korb und ISBN-Deduplizierung: Empfehlung = dasselbe Buch in anderer Auflage</a:t>
            </a:r>
          </a:p>
          <a:p>
            <a:pPr lvl="0"/>
            <a:r>
              <a:t>Komplette Pipeline zum Nachrechnen: → Notebook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Über Apriori hinaus: die Data-Mining-Werkzeugkiste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Eine Landkarte der Verfahren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Unüberwacht</a:t>
            </a:r>
            <a:r>
              <a:t> — Muster finden, ohne dass jemand die „richtige Antwort” vorgibt:</a:t>
            </a:r>
          </a:p>
          <a:p>
            <a:pPr lvl="1"/>
            <a:r>
              <a:t>Assoziationsregeln, Clustering, Netzwerkanalyse, Anomalieerkennung</a:t>
            </a:r>
          </a:p>
          <a:p>
            <a:pPr lvl="0"/>
            <a:r>
              <a:rPr b="1"/>
              <a:t>Überwacht</a:t>
            </a:r>
            <a:r>
              <a:t> — aus Beispielen mit bekanntem Ergebnis lernen:</a:t>
            </a:r>
          </a:p>
          <a:p>
            <a:pPr lvl="1"/>
            <a:r>
              <a:t>Klassifikation, Recommender mit Bewertungen</a:t>
            </a:r>
          </a:p>
          <a:p>
            <a:pPr lvl="0"/>
            <a:r>
              <a:t>Alle folgenden Verfahren laufen auf demselben BookCrossing-Datensatz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persönliche Empfehlungen?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Apriori liefert eine Regel für alle — jetzt soll es persönlich werden</a:t>
            </a:r>
          </a:p>
          <a:p>
            <a:pPr lvl="0"/>
            <a:r>
              <a:t>Aufgabe: Eine Empfehlung speziell für Nutzerin 198711, nur aus den Bewertungsdaten</a:t>
            </a:r>
          </a:p>
          <a:p>
            <a:pPr lvl="0"/>
            <a:r>
              <a:rPr b="1"/>
              <a:t>Wie würden Sie ihren Geschmack erfassen — und mit wem vergleichen?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Collaborative Filtering: Wie macht Spotify 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Die Charts gefallen Ihnen nicht, Spotify trifft dennoch Ihren Geschmack. Wie?</a:t>
            </a:r>
          </a:p>
          <a:p>
            <a:pPr lvl="0"/>
            <a:r>
              <a:t>Nicht über den Inhalt: Der Algorithmus weiß nicht, was ein Genre ist</a:t>
            </a:r>
          </a:p>
          <a:p>
            <a:pPr lvl="0"/>
            <a:r>
              <a:rPr b="1"/>
              <a:t>Geschmacksnachbarn</a:t>
            </a:r>
            <a:r>
              <a:t>: Menschen, die bisher ähnlich bewertet haben wie Sie</a:t>
            </a:r>
          </a:p>
          <a:p>
            <a:pPr lvl="0"/>
            <a:r>
              <a:t>Was die mochten und Sie noch nicht kennen — das ist Ihre Empfehlung</a:t>
            </a:r>
          </a:p>
          <a:p>
            <a:pPr lvl="0"/>
            <a:r>
              <a:t>Unterschied zu Apriori: nicht </a:t>
            </a:r>
            <a:r>
              <a:rPr i="1"/>
              <a:t>eine</a:t>
            </a:r>
            <a:r>
              <a:t> Regel für alle, sondern eine </a:t>
            </a:r>
            <a:r>
              <a:rPr b="1"/>
              <a:t>persönliche</a:t>
            </a:r>
            <a:r>
              <a:t> Liste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Collaborative Filtering: Zwei Varianten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UBCF — User-Based:</a:t>
            </a:r>
            <a:r>
              <a:t> Finde Nutzer:innen, die ähnlich bewertet haben wie du → übernimm ihre Favoriten</a:t>
            </a:r>
          </a:p>
          <a:p>
            <a:pPr lvl="0"/>
            <a:r>
              <a:rPr b="1"/>
              <a:t>IBCF — Item-Based:</a:t>
            </a:r>
            <a:r>
              <a:t> Finde Bücher, die ähnlich bewertet wurden wie deine Favoriten → empfehle die nächsten</a:t>
            </a:r>
          </a:p>
          <a:p>
            <a:pPr lvl="0"/>
            <a:r>
              <a:t>Beide nutzen dieselbe Tabelle — UBCF vergleicht Zeilen, IBCF vergleicht Spalten</a:t>
            </a:r>
          </a:p>
          <a:p>
            <a:pPr lvl="0"/>
            <a:r>
              <a:t>Welcher Ansatz besser ist, hängt vom Datensatz ab — deshalb testen wir beide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Collaborative Filtering: Wie es funktioniert (UBCF)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Die große Tabelle: eine Zeile pro Nutzer:in, eine Spalte pro Buch, in den Zellen die Noten</a:t>
            </a:r>
          </a:p>
          <a:p>
            <a:pPr lvl="0"/>
            <a:r>
              <a:t>Schritt 1: Finde die Zeilen, die Ihrer Zeile am ähnlichsten sind</a:t>
            </a:r>
          </a:p>
          <a:p>
            <a:pPr lvl="0"/>
            <a:r>
              <a:t>Schritt 2: Was steht dort gut bewertet, fehlt aber bei Ihnen? → Empfehlung</a:t>
            </a:r>
          </a:p>
          <a:p>
            <a:pPr lvl="0"/>
            <a:r>
              <a:t>Hier schlägt die Sparsity zu: fast leere Zeilen kann man nicht vergleichen</a:t>
            </a:r>
          </a:p>
          <a:p>
            <a:pPr lvl="0"/>
            <a:r>
              <a:t>Deshalb erst eindampfen — übrig bleiben 743 aktive Leser:innen × 477 populäre Bücher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Collaborative Filtering: Funktioniert das wirklich?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Der Test funktioniert wie in der Schule: Wir verstecken einen Teil der Bewertungen und lassen das Verfahren raten</a:t>
            </a:r>
          </a:p>
          <a:p>
            <a:pPr lvl="0"/>
            <a:r>
              <a:t>Ergebnis: deutlich besser als Zufallsempfehlungen (ROC-Kurve → Notebook)</a:t>
            </a:r>
          </a:p>
          <a:p>
            <a:pPr lvl="0"/>
            <a:r>
              <a:t>Die Empfehlungslisten sind in sich stimmig — obwohl niemand dem System je „Genre” beigebracht hat</a:t>
            </a:r>
          </a:p>
          <a:p>
            <a:pPr lvl="0"/>
            <a:r>
              <a:t>Schwäche: Wer noch nichts bewertet hat, bekommt nichts; was neu ist, wird nicht empfohlen (</a:t>
            </a:r>
            <a:r>
              <a:rPr b="1"/>
              <a:t>Cold Start</a:t>
            </a:r>
            <a: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liest man das Testergebnis?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Drei Kandidaten treten an:</a:t>
            </a:r>
          </a:p>
          <a:p>
            <a:pPr lvl="1"/>
            <a:r>
              <a:rPr b="1"/>
              <a:t>UBCF</a:t>
            </a:r>
            <a:r>
              <a:t> — empfiehlt über ähnliche </a:t>
            </a:r>
            <a:r>
              <a:rPr i="1"/>
              <a:t>Personen</a:t>
            </a:r>
            <a:r>
              <a:t> („Geschmacksnachbarn”)</a:t>
            </a:r>
          </a:p>
          <a:p>
            <a:pPr lvl="1"/>
            <a:r>
              <a:rPr b="1"/>
              <a:t>IBCF</a:t>
            </a:r>
            <a:r>
              <a:t> — empfiehlt über ähnliche </a:t>
            </a:r>
            <a:r>
              <a:rPr i="1"/>
              <a:t>Bücher</a:t>
            </a:r>
            <a:r>
              <a:t> („wer dieses mochte, mochte auch …“)</a:t>
            </a:r>
          </a:p>
          <a:p>
            <a:pPr lvl="1"/>
            <a:r>
              <a:rPr b="1"/>
              <a:t>RANDOM</a:t>
            </a:r>
            <a:r>
              <a:t> — würfelt (unsere Untergrenze)</a:t>
            </a:r>
          </a:p>
          <a:p>
            <a:pPr lvl="0"/>
            <a:r>
              <a:t>Zwei Achsen:</a:t>
            </a:r>
          </a:p>
          <a:p>
            <a:pPr lvl="1"/>
            <a:r>
              <a:t>Nach oben (</a:t>
            </a:r>
            <a:r>
              <a:rPr b="1"/>
              <a:t>TPR</a:t>
            </a:r>
            <a:r>
              <a:t>): Wie viele der versteckten Lieblingsbücher wurden gefunden?</a:t>
            </a:r>
          </a:p>
          <a:p>
            <a:pPr lvl="1"/>
            <a:r>
              <a:t>Nach rechts (</a:t>
            </a:r>
            <a:r>
              <a:rPr b="1"/>
              <a:t>FPR</a:t>
            </a:r>
            <a:r>
              <a:t>): Wie viele Empfehlungen waren daneben?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Der Test im Bild</a:t>
            </a:r>
          </a:p>
        </p:txBody>
      </p:sp>
      <p:pic>
        <p:nvPicPr>
          <p:cNvPr id="3" name="Picture 1" descr="images/roc_cf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88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Was bedeuten die Abkürzungen?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ROC</a:t>
            </a:r>
            <a:r>
              <a:t> — Receiver Operating Characteristic: wie gut trennt ein Verfahren Treffer von Fehlern?</a:t>
            </a:r>
          </a:p>
          <a:p>
            <a:pPr lvl="0"/>
            <a:r>
              <a:rPr b="1"/>
              <a:t>TPR</a:t>
            </a:r>
            <a:r>
              <a:t> — True Positive Rate: Anteil der Lieblingsbücher, die das System gefunden hat</a:t>
            </a:r>
          </a:p>
          <a:p>
            <a:pPr lvl="0"/>
            <a:r>
              <a:rPr b="1"/>
              <a:t>FPR</a:t>
            </a:r>
            <a:r>
              <a:t> — False Positive Rate: Anteil der Empfehlungen, die daneben lagen</a:t>
            </a:r>
          </a:p>
          <a:p>
            <a:pPr lvl="0"/>
            <a:r>
              <a:t>Eine perfekte Kurve schmiegt sich an die obere linke Ecke — viel TPR, kaum FPR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Was sehen wir im Bild?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UBCF und IBCF liegen bei wenigen Empfehlungen (N=1, 5) über der Diagonale — sie treffen öfter als Zufall</a:t>
            </a:r>
          </a:p>
          <a:p>
            <a:pPr lvl="0"/>
            <a:r>
              <a:t>Zufall liegt darunter: er empfiehlt gleichmäßig, die Testbücher sind aber nicht gleichmäßig verteilt</a:t>
            </a:r>
          </a:p>
          <a:p>
            <a:pPr lvl="0"/>
            <a:r>
              <a:t>UBCF und IBCF greifen bevorzugt auf viel bewertete Bücher zurück — und treffen den Test-Pool deshalb öfter</a:t>
            </a:r>
          </a:p>
          <a:p>
            <a:pPr lvl="0"/>
            <a:r>
              <a:t>Alle Werte sind winzig (max. ~2 %): selbst das beste Verfahren findet nur einen Bruchteil der versteckten Bücher — das ist Sparsity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Lesertypen?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Aufgabe: Beschreiben Sie die Nutzerschaft in einer Handvoll Typen — ohne dass jemand die Typen vorgibt</a:t>
            </a:r>
          </a:p>
          <a:p>
            <a:pPr lvl="0"/>
            <a:r>
              <a:rPr b="1"/>
              <a:t>Welche Merkmale aus den Tabellen würden Sie heranziehen? Woran erkennt man „ähnliche” Nutzer:innen?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Clustering: Lesertypen finden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Idee: </a:t>
            </a:r>
            <a:r>
              <a:rPr b="1"/>
              <a:t>Gruppiere Ähnliches, ohne vorher Gruppen festzulegen</a:t>
            </a:r>
          </a:p>
          <a:p>
            <a:pPr lvl="0"/>
            <a:r>
              <a:t>Denken Sie an eine Schule: 800 Schulkinder (10–20 Jahre), 100 Lehrkräfte (30–65 Jahre)</a:t>
            </a:r>
          </a:p>
          <a:p>
            <a:pPr lvl="0"/>
            <a:r>
              <a:t>Ein Algorithmus, der das Konzept „Lehrkraft” gar nicht kennt, findet die zwei Gruppen trotzdem — allein über die Altersabstände</a:t>
            </a:r>
          </a:p>
          <a:p>
            <a:pPr lvl="0"/>
            <a:r>
              <a:t>Mehr braucht es nicht: Abstände messen, Nahes zusammenfassen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k-Means: So funktioniert der Algorithmus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Schritt 1:</a:t>
            </a:r>
            <a:r>
              <a:t> Setze k Zufallspunkte ins Koordinatensystem — die ersten Centroids</a:t>
            </a:r>
          </a:p>
          <a:p>
            <a:pPr lvl="0"/>
            <a:r>
              <a:rPr b="1"/>
              <a:t>Schritt 2:</a:t>
            </a:r>
            <a:r>
              <a:t> Weise jeden Datenpunkt dem nächsten Centroid zu</a:t>
            </a:r>
          </a:p>
          <a:p>
            <a:pPr lvl="0"/>
            <a:r>
              <a:rPr b="1"/>
              <a:t>Schritt 3:</a:t>
            </a:r>
            <a:r>
              <a:t> Verschiebe jeden Centroid in die Mitte seiner Gruppe</a:t>
            </a:r>
          </a:p>
          <a:p>
            <a:pPr lvl="0"/>
            <a:r>
              <a:rPr b="1"/>
              <a:t>Schritt 4:</a:t>
            </a:r>
            <a:r>
              <a:t> Wiederhole Schritte 2–3, bis sich nichts mehr ändert</a:t>
            </a:r>
          </a:p>
          <a:p>
            <a:pPr lvl="0"/>
            <a:r>
              <a:t>Das k muss man selbst wählen — k=4 heißt: „Ich erwarte vier Lesertypen”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Zufälliges Platzieren der Centroids</a:t>
            </a:r>
          </a:p>
        </p:txBody>
      </p:sp>
      <p:pic>
        <p:nvPicPr>
          <p:cNvPr id="3" name="Picture 1" descr="images/07_00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6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Neuberechnung der Abstände</a:t>
            </a:r>
          </a:p>
        </p:txBody>
      </p:sp>
      <p:pic>
        <p:nvPicPr>
          <p:cNvPr id="3" name="Picture 1" descr="images/07_00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0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Clustering: Welche Lesertypen stecken in BookCrossing?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Wir beschreiben jede:n Nutzer:in mit vier Zahlen: Wie viele Bücher? Wie oft bewertet? Wie streng? Wie schwankend?</a:t>
            </a:r>
          </a:p>
          <a:p>
            <a:pPr lvl="0"/>
            <a:r>
              <a:t>k-means findet vier Gruppen (Zahlen → Notebook):</a:t>
            </a:r>
          </a:p>
          <a:p>
            <a:pPr lvl="1"/>
            <a:r>
              <a:t>Die </a:t>
            </a:r>
            <a:r>
              <a:rPr b="1"/>
              <a:t>Vielleser:innen</a:t>
            </a:r>
            <a:r>
              <a:t> — 83 Bücher im Regal (Median)</a:t>
            </a:r>
          </a:p>
          <a:p>
            <a:pPr lvl="1"/>
            <a:r>
              <a:t>Die </a:t>
            </a:r>
            <a:r>
              <a:rPr b="1"/>
              <a:t>Wohlwollenden</a:t>
            </a:r>
            <a:r>
              <a:t> — bewerten fast alles, Durchschnittsnote 7,8</a:t>
            </a:r>
          </a:p>
          <a:p>
            <a:pPr lvl="1"/>
            <a:r>
              <a:t>Die </a:t>
            </a:r>
            <a:r>
              <a:rPr b="1"/>
              <a:t>Strengen</a:t>
            </a:r>
            <a:r>
              <a:t> — Note 6,5 bei der größten Schwankung</a:t>
            </a:r>
          </a:p>
          <a:p>
            <a:pPr lvl="1"/>
            <a:r>
              <a:t>Die </a:t>
            </a:r>
            <a:r>
              <a:rPr b="1"/>
              <a:t>stillen Sammler:innen</a:t>
            </a:r>
            <a:r>
              <a:t> — erfassen viel, bewerten kaum</a:t>
            </a:r>
          </a:p>
          <a:p>
            <a:pPr lvl="0"/>
            <a:r>
              <a:t>Die Namen stammen von mir, nicht vom Algorithmus — </a:t>
            </a:r>
            <a:r>
              <a:rPr b="1"/>
              <a:t>deuten muss der Mensch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Wird das Buch gefallen?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Aufgabe: Sagen Sie vorher, ob eine Leserin ein Buch mit 7+ benoten wird</a:t>
            </a:r>
          </a:p>
          <a:p>
            <a:pPr lvl="0"/>
            <a:r>
              <a:t>Zur Verfügung stehen nur: ihr Alter, das Erscheinungsjahr, die Popularität des Buchs</a:t>
            </a:r>
          </a:p>
          <a:p>
            <a:pPr lvl="0"/>
            <a:r>
              <a:rPr b="1"/>
              <a:t>Reicht das? Was würden Sie daraus ableiten — und was fehlt Ihnen?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Klassifikation: Woher weiß der Spamfilter, was Spam 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Er hat tausende Mails gesehen, die Menschen vorher als Spam markiert haben</a:t>
            </a:r>
          </a:p>
          <a:p>
            <a:pPr lvl="0"/>
            <a:r>
              <a:t>Das ist </a:t>
            </a:r>
            <a:r>
              <a:rPr b="1"/>
              <a:t>überwachtes Lernen</a:t>
            </a:r>
            <a:r>
              <a:t>: aus Fällen mit bekannter Antwort lernen, neue Fälle vorhersagen</a:t>
            </a:r>
          </a:p>
          <a:p>
            <a:pPr lvl="0"/>
            <a:r>
              <a:t>Der Unterschied zum Clustering: Dort sucht der Algorithmus selbst nach Gruppen — hier geben wir die „richtige Antwort” zum Üben vor</a:t>
            </a:r>
          </a:p>
          <a:p>
            <a:pPr lvl="0"/>
            <a:r>
              <a:t>Unsere Frage an BookCrossing: </a:t>
            </a:r>
            <a:r>
              <a:rPr b="1"/>
              <a:t>Wird diese Leserin dieses Buch mögen?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Klassifikation: Der Entscheidungsbaum als Auskunftsgespräch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Das Modell stellt nacheinander Ja/Nein-Fragen: Ist das Buch populär? Ist die Leserin über 30?</a:t>
            </a:r>
          </a:p>
          <a:p>
            <a:pPr lvl="0"/>
            <a:r>
              <a:t>Jede Frage teilt die Fälle weiter auf — am Ende jedes Astes steht eine Vorhersage</a:t>
            </a:r>
          </a:p>
          <a:p>
            <a:pPr lvl="0"/>
            <a:r>
              <a:t>Gelernt werden die Fragen aus den Beispielen: Der Baum wählt selbst, welche Frage am besten trennt</a:t>
            </a:r>
          </a:p>
          <a:p>
            <a:pPr lvl="0"/>
            <a:r>
              <a:t>Großer Vorteil gegenüber „Black Boxes”: Man kann den Baum </a:t>
            </a:r>
            <a:r>
              <a:rPr b="1"/>
              <a:t>lesen</a:t>
            </a:r>
            <a:r>
              <a:t> und Betroffenen erklären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Entscheidungsbaum: Wie wählt der Algo die Frage?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Bei jeder Verzweigung probiert der Algorithmus </a:t>
            </a:r>
            <a:r>
              <a:rPr b="1"/>
              <a:t>alle möglichen Schnitte</a:t>
            </a:r>
            <a:r>
              <a:t> durch die Daten</a:t>
            </a:r>
          </a:p>
          <a:p>
            <a:pPr lvl="0"/>
            <a:r>
              <a:t>Gewählt wird der Schnitt, der die entstehenden Gruppen am </a:t>
            </a:r>
            <a:r>
              <a:rPr b="1"/>
              <a:t>reinsten</a:t>
            </a:r>
            <a:r>
              <a:t> macht — möglichst alle „mag” auf einer Seite, alle „mag nicht” auf der anderen</a:t>
            </a:r>
          </a:p>
          <a:p>
            <a:pPr lvl="0"/>
            <a:r>
              <a:t>Maß dafür: der Gini-Index — je homogener eine Gruppe, desto besser</a:t>
            </a:r>
          </a:p>
          <a:p>
            <a:pPr lvl="0"/>
            <a:r>
              <a:t>Der Baum wächst Ast für Ast, bis jede Gruppe rein genug ist oder zu wenige Fälle enthält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 sieht unser Baum aus</a:t>
            </a:r>
          </a:p>
        </p:txBody>
      </p:sp>
      <p:pic>
        <p:nvPicPr>
          <p:cNvPr id="3" name="Picture 1" descr="images/entscheidungsbau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88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Klassifikation: Die 77-Prozent-Falle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Unser Baum liegt in 77 % der Fälle richtig. Klingt ordentlich?</a:t>
            </a:r>
          </a:p>
          <a:p>
            <a:pPr lvl="0"/>
            <a:r>
              <a:t>Der Haken: Er sagt fast immer „mag es” — von 4.384 „Gefällt nicht”-Fällen erkennt er ganze </a:t>
            </a:r>
            <a:r>
              <a:rPr b="1"/>
              <a:t>37</a:t>
            </a:r>
          </a:p>
          <a:p>
            <a:pPr lvl="0"/>
            <a:r>
              <a:t>Ein Modell, das stur </a:t>
            </a:r>
            <a:r>
              <a:rPr i="1"/>
              <a:t>immer</a:t>
            </a:r>
            <a:r>
              <a:t> „mag es” sagt, käme auf fast dieselbe Quote</a:t>
            </a:r>
          </a:p>
          <a:p>
            <a:pPr lvl="0"/>
            <a:r>
              <a:rPr b="1"/>
              <a:t>Bei schiefen Klassen lügt die Trefferquote</a:t>
            </a:r>
            <a:r>
              <a:t> — darum immer in die Confusion Matrix schauen</a:t>
            </a:r>
          </a:p>
          <a:p>
            <a:pPr lvl="0"/>
            <a:r>
              <a:t>(Kommt Ihnen bekannt vor? Häufig ≠ relevant — dasselbe Problem wie bei den Bestsellern)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Dubletten?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Aufgabe: „The Green Mile”, „Der Green Mile”, „The Green Mile (Signet)” — finden Sie alle Auflagen desselben Werks unter 271.000 Titeln</a:t>
            </a:r>
          </a:p>
          <a:p>
            <a:pPr lvl="0"/>
            <a:r>
              <a:rPr b="1"/>
              <a:t>Wie würden Sie das angehen — von Hand, mit Regeln, mit Normdaten? Und wie lange bräuchten Sie?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Record Linkage: Ist das dasselbe Buch?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Idee: </a:t>
            </a:r>
            <a:r>
              <a:rPr b="1"/>
              <a:t>Einträge zusammenführen, die dasselbe Objekt beschreiben</a:t>
            </a:r>
          </a:p>
          <a:p>
            <a:pPr lvl="0"/>
            <a:r>
              <a:t>„The Green Mile”, „Der Green Mile”, „The Green Mile (Signet)” — ein Werk, drei Datensätze</a:t>
            </a:r>
          </a:p>
          <a:p>
            <a:pPr lvl="0"/>
            <a:r>
              <a:t>Das ist FRBR als Data-Mining-Problem: Werk vs. Manifestation</a:t>
            </a:r>
          </a:p>
          <a:p>
            <a:pPr lvl="0"/>
            <a:r>
              <a:rPr b="1"/>
              <a:t>Hier sind Sie die Expert:innen</a:t>
            </a:r>
            <a:r>
              <a:t> — Normdaten und Dublettenkontrolle sind genau das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Record Linkage: Wie der Computer Titel vergleicht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String-Ähnlichkeit: „the green mile” und „der green mile” teilen fast alle Buchstaben in fast derselben Reihenfolge — Ähnlichkeit fast 1</a:t>
            </a:r>
          </a:p>
          <a:p>
            <a:pPr lvl="0"/>
            <a:r>
              <a:t>Aber: alle 271.000 Titel paarweise vergleichen wären ~37 Milliarden Vergleiche</a:t>
            </a:r>
          </a:p>
          <a:p>
            <a:pPr lvl="0"/>
            <a:r>
              <a:t>Der Trick (wie bei Apriori!): vorher grob aussieben — verglichen wird nur innerhalb desselben Autors (</a:t>
            </a:r>
            <a:r>
              <a:rPr b="1"/>
              <a:t>Blocking</a:t>
            </a:r>
            <a:r>
              <a:t>)</a:t>
            </a:r>
          </a:p>
          <a:p>
            <a:pPr lvl="0"/>
            <a:r>
              <a:t>Ergebnis: Allein bei Stephen King fallen 77 Titelvarianten zu 35 Werken zusammen — im ganzen Datensatz stecken über 40.000 Mehrfach-ISBNs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Was stimmt hier nicht?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Aufgabe: Im Datensatz stecken kaputte und unglaubwürdige Einträge — finden Sie sie</a:t>
            </a:r>
          </a:p>
          <a:p>
            <a:pPr lvl="0"/>
            <a:r>
              <a:rPr b="1"/>
              <a:t>Woran würden Sie „verdächtig” festmachen? Welche Werte würden Sie sich zuerst ansehen?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Anomalieerkennung: Was fällt aus dem Rahmen?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Idee: Erst das Normale beschreiben — dann das finden, was nicht dazu passt</a:t>
            </a:r>
          </a:p>
          <a:p>
            <a:pPr lvl="0"/>
            <a:r>
              <a:t>Eine Nutzerin hat 7.550 Bücher bewertet. Das wäre </a:t>
            </a:r>
            <a:r>
              <a:rPr b="1"/>
              <a:t>ein Buch pro Tag, zwanzig Jahre lang</a:t>
            </a:r>
          </a:p>
          <a:p>
            <a:pPr lvl="0"/>
            <a:r>
              <a:t>Plausibler: Massenimport oder Automatisierung</a:t>
            </a:r>
          </a:p>
          <a:p>
            <a:pPr lvl="0"/>
            <a:r>
              <a:t>Rauswerfen oder drinlassen? Beides vertretbar — aber </a:t>
            </a:r>
            <a:r>
              <a:rPr b="1"/>
              <a:t>entscheiden und dokumentieren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Anomalien erzählen Geschichten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Wild Animus</a:t>
            </a:r>
            <a:r>
              <a:t>: 238 Bewertungen (Spitzenwert) — Durchschnittsnote 4,1 (mit Abstand Tiefstwert)</a:t>
            </a:r>
          </a:p>
          <a:p>
            <a:pPr lvl="0"/>
            <a:r>
              <a:t>Kein Datenfehler: Das Buch wurde Anfang der 2000er massenhaft verschenkt</a:t>
            </a:r>
          </a:p>
          <a:p>
            <a:pPr lvl="0"/>
            <a:r>
              <a:t>Im Streudiagramm Popularität × Note springt der Punkt sofort ins Auge</a:t>
            </a:r>
          </a:p>
          <a:p>
            <a:pPr lvl="0"/>
            <a:r>
              <a:t>Anomalien sind nicht immer Schmutz — </a:t>
            </a:r>
            <a:r>
              <a:rPr b="1"/>
              <a:t>manchmal sind sie der interessanteste Befund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Der Ausreißer im Bild</a:t>
            </a:r>
          </a:p>
        </p:txBody>
      </p:sp>
      <p:pic>
        <p:nvPicPr>
          <p:cNvPr id="3" name="Picture 1" descr="images/popularitaet_vs_not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64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Wie würden Sie es lösen: das große Ganze zeigen?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Aufgabe: Zeigen Sie einer Kollegin </a:t>
            </a:r>
            <a:r>
              <a:rPr i="1"/>
              <a:t>auf einen Blick</a:t>
            </a:r>
            <a:r>
              <a:t>, welche Bücher zusammengehören</a:t>
            </a:r>
          </a:p>
          <a:p>
            <a:pPr lvl="0"/>
            <a:r>
              <a:rPr b="1"/>
              <a:t>Wie würden Sie 400.000 Bewertungszeilen in ein einziges Bild verwandeln?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Netzwerkanalyse: Die Landkarte der Bücher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Idee: Male jedes Buch als Punkt — und verbinde zwei Punkte, wenn dieselben Menschen beide Bücher haben</a:t>
            </a:r>
          </a:p>
          <a:p>
            <a:pPr lvl="0"/>
            <a:r>
              <a:t>Je mehr gemeinsame Leser:innen, desto dicker die Linie</a:t>
            </a:r>
          </a:p>
          <a:p>
            <a:pPr lvl="0"/>
            <a:r>
              <a:t>Aus einer Tabelle mit 400.000 Zeilen wird </a:t>
            </a:r>
            <a:r>
              <a:rPr b="1"/>
              <a:t>ein Bild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Die Karte</a:t>
            </a:r>
          </a:p>
        </p:txBody>
      </p:sp>
      <p:pic>
        <p:nvPicPr>
          <p:cNvPr id="3" name="Picture 1" descr="images/co-occurenc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72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Netzwerkanalyse: Was die Karte zeigt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Auf der Karte bilden sich „Inseln”: Bücher, die untereinander dicht verbunden sind</a:t>
            </a:r>
          </a:p>
          <a:p>
            <a:pPr lvl="0"/>
            <a:r>
              <a:t>Ein Algorithmus findet diese Inseln automatisch (Community Detection) — z. B. den Dan-Brown-Cluster</a:t>
            </a:r>
          </a:p>
          <a:p>
            <a:pPr lvl="0"/>
            <a:r>
              <a:t>Niemand hat dem System Genres beigebracht: </a:t>
            </a:r>
            <a:r>
              <a:rPr b="1"/>
              <a:t>Die Leser:innen haben die Karte gezeichnet</a:t>
            </a:r>
          </a:p>
          <a:p>
            <a:pPr lvl="0"/>
            <a:r>
              <a:t>Dieselbe Information wie bei Apriori — als Bild statt als Regelliste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Welches Verfahren für welche Frage? — alle sieben im Notebook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Verfahren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Was wird zusammen gelesen?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Assoziationsregeln (Apriori)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Was empfehle ich </a:t>
                      </a:r>
                      <a:r>
                        <a:rPr i="1"/>
                        <a:t>dieser</a:t>
                      </a:r>
                      <a:r>
                        <a:t> Person?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Collaborative Filtering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Welche Lesertypen gibt 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Clustering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Wird ein Buch gefallen?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Klassifikation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Sind das Dubletten?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Record Linkage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Was ist hier faul?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Anomalieerkennung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Wie hängt alles zusammen?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Netzwerkanalyse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Grenzen — Ihre Meinung?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Apriori personalisiert nicht: globale Regeln, kein individuelles Profil</a:t>
            </a:r>
          </a:p>
          <a:p>
            <a:pPr lvl="0"/>
            <a:r>
              <a:t>Cold Start: neue Bücher ohne Bewertungen bleiben unsichtbar</a:t>
            </a:r>
          </a:p>
          <a:p>
            <a:pPr lvl="0"/>
            <a:r>
              <a:t>Feedback-Schleife: Häufiges wird noch häufiger</a:t>
            </a:r>
          </a:p>
          <a:p>
            <a:pPr lvl="0"/>
            <a:r>
              <a:rPr b="1"/>
              <a:t>Wollen Bibliotheken Filterblasen — oder ist Serendipität ein Bibliothekswert?</a:t>
            </a:r>
          </a:p>
          <a:p>
            <a:pPr lvl="0"/>
            <a:r>
              <a:rPr b="1"/>
              <a:t>Dürfen wir Ausleihdaten so nutzen? Was unterscheidet uns von Amazon?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 (wenn Zeit)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Train/Test-Split: Regeln auf 80 % lernen, auf 20 % prüfen</a:t>
            </a:r>
          </a:p>
          <a:p>
            <a:pPr lvl="0"/>
            <a:r>
              <a:t>Confusion Matrix: empfohlen &amp; gelesen = True Positive</a:t>
            </a:r>
          </a:p>
          <a:p>
            <a:pPr lvl="0"/>
            <a:r>
              <a:t>Nicht alle Fehler sind gleich teuer — was kostet eine schlechte Buchempfehlung?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Ihre Praxisfragen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Zum Abschluss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Eine Sache, die heute hängen geblieben ist?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3634</Words>
  <Application>Microsoft Macintosh PowerPoint</Application>
  <PresentationFormat>Bildschirmpräsentation (16:9)</PresentationFormat>
  <Paragraphs>381</Paragraphs>
  <Slides>76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76</vt:i4>
      </vt:variant>
    </vt:vector>
  </HeadingPairs>
  <TitlesOfParts>
    <vt:vector size="80" baseType="lpstr">
      <vt:lpstr>Arial</vt:lpstr>
      <vt:lpstr>Calibri</vt:lpstr>
      <vt:lpstr>Courier</vt:lpstr>
      <vt:lpstr>Office Theme</vt:lpstr>
      <vt:lpstr>Konsultation Data Mining</vt:lpstr>
      <vt:lpstr>Konzepte klären</vt:lpstr>
      <vt:lpstr>Ziele dieser Konsultation</vt:lpstr>
      <vt:lpstr>Ablauf heute</vt:lpstr>
      <vt:lpstr>Logistik</vt:lpstr>
      <vt:lpstr>Womit starten wir?</vt:lpstr>
      <vt:lpstr>Die Begriffe sortiert</vt:lpstr>
      <vt:lpstr>Standortbestimmung</vt:lpstr>
      <vt:lpstr>Diskussion</vt:lpstr>
      <vt:lpstr>Der BookCrossing-Datensatz</vt:lpstr>
      <vt:lpstr>Der BookCrossing-Datensatz</vt:lpstr>
      <vt:lpstr>CRISP-DM</vt:lpstr>
      <vt:lpstr>Was stimmt im BookCrossings-Daten nicht?</vt:lpstr>
      <vt:lpstr>Visualisierung als erster Schritt in der Datenanalyse</vt:lpstr>
      <vt:lpstr>Exkurs: Was heißt Sparsity?</vt:lpstr>
      <vt:lpstr>Sparsity: die Folgen</vt:lpstr>
      <vt:lpstr>FRBR und Sparsity</vt:lpstr>
      <vt:lpstr>Data Mining-Ansätze für den BookCrossing-Datensatz</vt:lpstr>
      <vt:lpstr>Software</vt:lpstr>
      <vt:lpstr>Wie würden Sie es lösen: Empfehlungen?</vt:lpstr>
      <vt:lpstr>Warum nicht einfach die Bestseller empfehlen?</vt:lpstr>
      <vt:lpstr>Die Idee: Zusammenhänge statt Häufigkeit</vt:lpstr>
      <vt:lpstr>Vom Supermarkt zu BookCrossing</vt:lpstr>
      <vt:lpstr>Von Hand: 8 Leser:innen — je ein „Bücherregal”</vt:lpstr>
      <vt:lpstr>Support: Lohnt sich die Regel überhaupt?</vt:lpstr>
      <vt:lpstr>Konfidenz: Wie verlässlich ist die Regel?</vt:lpstr>
      <vt:lpstr>Lift: Mehr als nur Popularität?</vt:lpstr>
      <vt:lpstr>Dasselbe mit arules</vt:lpstr>
      <vt:lpstr>Warum heißt das eigentlich „Apriori”?</vt:lpstr>
      <vt:lpstr>Jetzt mit den echten Daten</vt:lpstr>
      <vt:lpstr>Welche Bücher dominieren?</vt:lpstr>
      <vt:lpstr>Apriori laufen lassen</vt:lpstr>
      <vt:lpstr>Die stärksten Regeln</vt:lpstr>
      <vt:lpstr>Was sehen wir?</vt:lpstr>
      <vt:lpstr>Wild Animus: populär, aber zusammenhanglos</vt:lpstr>
      <vt:lpstr>Empfehlung konkret</vt:lpstr>
      <vt:lpstr>Stellschrauben &amp; Stolpersteine</vt:lpstr>
      <vt:lpstr>Über Apriori hinaus: die Data-Mining-Werkzeugkiste</vt:lpstr>
      <vt:lpstr>Eine Landkarte der Verfahren</vt:lpstr>
      <vt:lpstr>Wie würden Sie es lösen: persönliche Empfehlungen?</vt:lpstr>
      <vt:lpstr>Collaborative Filtering: Wie macht Spotify das?</vt:lpstr>
      <vt:lpstr>Collaborative Filtering: Zwei Varianten</vt:lpstr>
      <vt:lpstr>Collaborative Filtering: Wie es funktioniert (UBCF)</vt:lpstr>
      <vt:lpstr>Collaborative Filtering: Funktioniert das wirklich?</vt:lpstr>
      <vt:lpstr>Wie liest man das Testergebnis?</vt:lpstr>
      <vt:lpstr>Der Test im Bild</vt:lpstr>
      <vt:lpstr>Was bedeuten die Abkürzungen?</vt:lpstr>
      <vt:lpstr>Was sehen wir im Bild?</vt:lpstr>
      <vt:lpstr>Wie würden Sie es lösen: Lesertypen?</vt:lpstr>
      <vt:lpstr>Clustering: Lesertypen finden</vt:lpstr>
      <vt:lpstr>k-Means: So funktioniert der Algorithmus</vt:lpstr>
      <vt:lpstr>Zufälliges Platzieren der Centroids</vt:lpstr>
      <vt:lpstr>Neuberechnung der Abstände</vt:lpstr>
      <vt:lpstr>Clustering: Welche Lesertypen stecken in BookCrossing?</vt:lpstr>
      <vt:lpstr>Wie würden Sie es lösen: Wird das Buch gefallen?</vt:lpstr>
      <vt:lpstr>Klassifikation: Woher weiß der Spamfilter, was Spam ist?</vt:lpstr>
      <vt:lpstr>Klassifikation: Der Entscheidungsbaum als Auskunftsgespräch</vt:lpstr>
      <vt:lpstr>Entscheidungsbaum: Wie wählt der Algo die Frage?</vt:lpstr>
      <vt:lpstr>So sieht unser Baum aus</vt:lpstr>
      <vt:lpstr>Klassifikation: Die 77-Prozent-Falle</vt:lpstr>
      <vt:lpstr>Wie würden Sie es lösen: Dubletten?</vt:lpstr>
      <vt:lpstr>Record Linkage: Ist das dasselbe Buch?</vt:lpstr>
      <vt:lpstr>Record Linkage: Wie der Computer Titel vergleicht</vt:lpstr>
      <vt:lpstr>Wie würden Sie es lösen: Was stimmt hier nicht?</vt:lpstr>
      <vt:lpstr>Anomalieerkennung: Was fällt aus dem Rahmen?</vt:lpstr>
      <vt:lpstr>Anomalien erzählen Geschichten</vt:lpstr>
      <vt:lpstr>Der Ausreißer im Bild</vt:lpstr>
      <vt:lpstr>Wie würden Sie es lösen: das große Ganze zeigen?</vt:lpstr>
      <vt:lpstr>Netzwerkanalyse: Die Landkarte der Bücher</vt:lpstr>
      <vt:lpstr>Die Karte</vt:lpstr>
      <vt:lpstr>Netzwerkanalyse: Was die Karte zeigt</vt:lpstr>
      <vt:lpstr>Welches Verfahren für welche Frage? — alle sieben im Notebook</vt:lpstr>
      <vt:lpstr>Grenzen — Ihre Meinung?</vt:lpstr>
      <vt:lpstr>Evaluation (wenn Zeit)</vt:lpstr>
      <vt:lpstr>Ihre Praxisfragen</vt:lpstr>
      <vt:lpstr>Zum Abschluss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Konsultation Data Mining</dc:title>
  <dc:creator>Tom Alby</dc:creator>
  <cp:keywords/>
  <cp:lastModifiedBy>Alby, Tom</cp:lastModifiedBy>
  <cp:revision>1</cp:revision>
  <dcterms:created xsi:type="dcterms:W3CDTF">2026-06-13T06:48:36Z</dcterms:created>
  <dcterms:modified xsi:type="dcterms:W3CDTF">2026-06-13T06:52:27Z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2026-06-13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Fernstudium Bibliotheks- und Informationswissenschaft, IBI</vt:lpwstr>
  </property>
  <property fmtid="{D5CDD505-2E9C-101B-9397-08002B2CF9AE}" pid="12" name="toc-title">
    <vt:lpwstr>Table of contents</vt:lpwstr>
  </property>
  <property fmtid="{D5CDD505-2E9C-101B-9397-08002B2CF9AE}" pid="13" name="MSIP_Label_defa4170-0d19-0005-0004-bc88714345d2_Enabled">
    <vt:lpwstr>true</vt:lpwstr>
  </property>
  <property fmtid="{D5CDD505-2E9C-101B-9397-08002B2CF9AE}" pid="14" name="MSIP_Label_defa4170-0d19-0005-0004-bc88714345d2_SetDate">
    <vt:lpwstr>2026-06-13T06:52:27Z</vt:lpwstr>
  </property>
  <property fmtid="{D5CDD505-2E9C-101B-9397-08002B2CF9AE}" pid="15" name="MSIP_Label_defa4170-0d19-0005-0004-bc88714345d2_Method">
    <vt:lpwstr>Standard</vt:lpwstr>
  </property>
  <property fmtid="{D5CDD505-2E9C-101B-9397-08002B2CF9AE}" pid="16" name="MSIP_Label_defa4170-0d19-0005-0004-bc88714345d2_Name">
    <vt:lpwstr>defa4170-0d19-0005-0004-bc88714345d2</vt:lpwstr>
  </property>
  <property fmtid="{D5CDD505-2E9C-101B-9397-08002B2CF9AE}" pid="17" name="MSIP_Label_defa4170-0d19-0005-0004-bc88714345d2_SiteId">
    <vt:lpwstr>2c6cac8d-ab61-47b3-8209-4df2e46aefbc</vt:lpwstr>
  </property>
  <property fmtid="{D5CDD505-2E9C-101B-9397-08002B2CF9AE}" pid="18" name="MSIP_Label_defa4170-0d19-0005-0004-bc88714345d2_ActionId">
    <vt:lpwstr>42ca2c53-b598-4277-aca1-a71c24619a70</vt:lpwstr>
  </property>
  <property fmtid="{D5CDD505-2E9C-101B-9397-08002B2CF9AE}" pid="19" name="MSIP_Label_defa4170-0d19-0005-0004-bc88714345d2_ContentBits">
    <vt:lpwstr>0</vt:lpwstr>
  </property>
  <property fmtid="{D5CDD505-2E9C-101B-9397-08002B2CF9AE}" pid="20" name="MSIP_Label_defa4170-0d19-0005-0004-bc88714345d2_Tag">
    <vt:lpwstr>50, 3, 0, 1</vt:lpwstr>
  </property>
</Properties>
</file>